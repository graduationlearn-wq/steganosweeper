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73952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Minesweeper Gameplay Steganography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78408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Arnav Kumar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Minesweeper Gameplay Steganography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concept and current development stage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3886200" cy="329184"/>
          </a:xfrm>
          <a:prstGeom prst="roundRect">
            <a:avLst>
              <a:gd name="adj" fmla="val 22222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371600"/>
            <a:ext cx="3703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4E79"/>
                </a:solidFill>
              </a:rPr>
              <a:t>CURRENT STAGE: DATA COLLECTION + BEHAVIOR MODELING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18288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</a:rPr>
              <a:t>Research Idea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2267712"/>
            <a:ext cx="52120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D2939"/>
                </a:solidFill>
              </a:rPr>
              <a:t>Hide information in the </a:t>
            </a:r>
            <a:pPr indent="0" marL="0">
              <a:buNone/>
            </a:pPr>
            <a:r>
              <a:rPr lang="en-US" sz="2100" b="1" dirty="0">
                <a:solidFill>
                  <a:srgbClr val="1F4E79"/>
                </a:solidFill>
              </a:rPr>
              <a:t>sequence of gameplay decisions</a:t>
            </a:r>
            <a:pPr indent="0" marL="0">
              <a:buNone/>
            </a:pPr>
            <a:r>
              <a:rPr lang="en-US" sz="2100" dirty="0">
                <a:solidFill>
                  <a:srgbClr val="1D2939"/>
                </a:solidFill>
              </a:rPr>
              <a:t> rather than directly modifying the mine layout.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6400800" y="1600200"/>
            <a:ext cx="393192" cy="393192"/>
          </a:xfrm>
          <a:prstGeom prst="rect">
            <a:avLst/>
          </a:prstGeom>
          <a:solidFill>
            <a:srgbClr val="C9CDD2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655064"/>
            <a:ext cx="393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</a:rPr>
              <a:t>#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793992" y="1600200"/>
            <a:ext cx="393192" cy="393192"/>
          </a:xfrm>
          <a:prstGeom prst="rect">
            <a:avLst/>
          </a:prstGeom>
          <a:solidFill>
            <a:srgbClr val="C9CDD2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93992" y="1655064"/>
            <a:ext cx="393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</a:rPr>
              <a:t>#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187184" y="1600200"/>
            <a:ext cx="393192" cy="393192"/>
          </a:xfrm>
          <a:prstGeom prst="rect">
            <a:avLst/>
          </a:prstGeom>
          <a:solidFill>
            <a:srgbClr val="C9CDD2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87184" y="1655064"/>
            <a:ext cx="393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</a:rPr>
              <a:t>#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580376" y="1600200"/>
            <a:ext cx="393192" cy="393192"/>
          </a:xfrm>
          <a:prstGeom prst="rect">
            <a:avLst/>
          </a:prstGeom>
          <a:solidFill>
            <a:srgbClr val="C9CDD2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80376" y="1655064"/>
            <a:ext cx="393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</a:rPr>
              <a:t>#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973568" y="1600200"/>
            <a:ext cx="393192" cy="393192"/>
          </a:xfrm>
          <a:prstGeom prst="rect">
            <a:avLst/>
          </a:prstGeom>
          <a:solidFill>
            <a:srgbClr val="C9CDD2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73568" y="1655064"/>
            <a:ext cx="393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</a:rPr>
              <a:t>#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366760" y="1600200"/>
            <a:ext cx="393192" cy="393192"/>
          </a:xfrm>
          <a:prstGeom prst="rect">
            <a:avLst/>
          </a:prstGeom>
          <a:solidFill>
            <a:srgbClr val="C9CDD2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66760" y="1655064"/>
            <a:ext cx="393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</a:rPr>
              <a:t>#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759952" y="1600200"/>
            <a:ext cx="393192" cy="393192"/>
          </a:xfrm>
          <a:prstGeom prst="rect">
            <a:avLst/>
          </a:prstGeom>
          <a:solidFill>
            <a:srgbClr val="C9CDD2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59952" y="1655064"/>
            <a:ext cx="393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</a:rPr>
              <a:t>#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153144" y="1600200"/>
            <a:ext cx="393192" cy="393192"/>
          </a:xfrm>
          <a:prstGeom prst="rect">
            <a:avLst/>
          </a:prstGeom>
          <a:solidFill>
            <a:srgbClr val="C9CDD2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53144" y="1655064"/>
            <a:ext cx="393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</a:rPr>
              <a:t>#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546336" y="1600200"/>
            <a:ext cx="393192" cy="393192"/>
          </a:xfrm>
          <a:prstGeom prst="rect">
            <a:avLst/>
          </a:prstGeom>
          <a:solidFill>
            <a:srgbClr val="C9CDD2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546336" y="1655064"/>
            <a:ext cx="393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</a:rPr>
              <a:t>#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00800" y="1993392"/>
            <a:ext cx="393192" cy="393192"/>
          </a:xfrm>
          <a:prstGeom prst="rect">
            <a:avLst/>
          </a:prstGeom>
          <a:solidFill>
            <a:srgbClr val="C9CDD2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2048256"/>
            <a:ext cx="393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</a:rPr>
              <a:t>#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793992" y="1993392"/>
            <a:ext cx="393192" cy="393192"/>
          </a:xfrm>
          <a:prstGeom prst="rect">
            <a:avLst/>
          </a:prstGeom>
          <a:solidFill>
            <a:srgbClr val="E7E9EC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93992" y="2048256"/>
            <a:ext cx="393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5FA8"/>
                </a:solidFill>
              </a:rPr>
              <a:t>1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187184" y="1993392"/>
            <a:ext cx="393192" cy="393192"/>
          </a:xfrm>
          <a:prstGeom prst="rect">
            <a:avLst/>
          </a:prstGeom>
          <a:solidFill>
            <a:srgbClr val="E7E9EC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87184" y="2048256"/>
            <a:ext cx="393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5FA8"/>
                </a:solidFill>
              </a:rPr>
              <a:t>1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580376" y="1993392"/>
            <a:ext cx="393192" cy="393192"/>
          </a:xfrm>
          <a:prstGeom prst="rect">
            <a:avLst/>
          </a:prstGeom>
          <a:solidFill>
            <a:srgbClr val="C9CDD2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80376" y="2048256"/>
            <a:ext cx="393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</a:rPr>
              <a:t>#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973568" y="1993392"/>
            <a:ext cx="393192" cy="393192"/>
          </a:xfrm>
          <a:prstGeom prst="rect">
            <a:avLst/>
          </a:prstGeom>
          <a:solidFill>
            <a:srgbClr val="C9CDD2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973568" y="2048256"/>
            <a:ext cx="393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</a:rPr>
              <a:t>#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366760" y="1993392"/>
            <a:ext cx="393192" cy="393192"/>
          </a:xfrm>
          <a:prstGeom prst="rect">
            <a:avLst/>
          </a:prstGeom>
          <a:solidFill>
            <a:srgbClr val="E7E9EC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366760" y="2048256"/>
            <a:ext cx="393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4F"/>
                </a:solidFill>
              </a:rPr>
              <a:t>2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759952" y="1993392"/>
            <a:ext cx="393192" cy="393192"/>
          </a:xfrm>
          <a:prstGeom prst="rect">
            <a:avLst/>
          </a:prstGeom>
          <a:solidFill>
            <a:srgbClr val="E7E9EC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759952" y="2048256"/>
            <a:ext cx="393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4F"/>
                </a:solidFill>
              </a:rPr>
              <a:t>2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9153144" y="1993392"/>
            <a:ext cx="393192" cy="393192"/>
          </a:xfrm>
          <a:prstGeom prst="rect">
            <a:avLst/>
          </a:prstGeom>
          <a:solidFill>
            <a:srgbClr val="C9CDD2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153144" y="2048256"/>
            <a:ext cx="393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</a:rPr>
              <a:t>#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9546336" y="1993392"/>
            <a:ext cx="393192" cy="393192"/>
          </a:xfrm>
          <a:prstGeom prst="rect">
            <a:avLst/>
          </a:prstGeom>
          <a:solidFill>
            <a:srgbClr val="C9CDD2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546336" y="2048256"/>
            <a:ext cx="393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</a:rPr>
              <a:t>#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400800" y="2386584"/>
            <a:ext cx="393192" cy="393192"/>
          </a:xfrm>
          <a:prstGeom prst="rect">
            <a:avLst/>
          </a:prstGeom>
          <a:solidFill>
            <a:srgbClr val="C9CDD2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0" y="2441448"/>
            <a:ext cx="393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</a:rPr>
              <a:t>#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793992" y="2386584"/>
            <a:ext cx="393192" cy="393192"/>
          </a:xfrm>
          <a:prstGeom prst="rect">
            <a:avLst/>
          </a:prstGeom>
          <a:solidFill>
            <a:srgbClr val="E7E9EC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793992" y="2441448"/>
            <a:ext cx="393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5FA8"/>
                </a:solidFill>
              </a:rPr>
              <a:t>1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187184" y="2386584"/>
            <a:ext cx="393192" cy="393192"/>
          </a:xfrm>
          <a:prstGeom prst="rect">
            <a:avLst/>
          </a:prstGeom>
          <a:solidFill>
            <a:srgbClr val="E7E9EC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580376" y="2386584"/>
            <a:ext cx="393192" cy="393192"/>
          </a:xfrm>
          <a:prstGeom prst="rect">
            <a:avLst/>
          </a:prstGeom>
          <a:solidFill>
            <a:srgbClr val="E7E9EC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580376" y="2441448"/>
            <a:ext cx="393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5FA8"/>
                </a:solidFill>
              </a:rPr>
              <a:t>1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7973568" y="2386584"/>
            <a:ext cx="393192" cy="393192"/>
          </a:xfrm>
          <a:prstGeom prst="rect">
            <a:avLst/>
          </a:prstGeom>
          <a:solidFill>
            <a:srgbClr val="E7E9EC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973568" y="2441448"/>
            <a:ext cx="393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4F"/>
                </a:solidFill>
              </a:rPr>
              <a:t>2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8366760" y="2386584"/>
            <a:ext cx="393192" cy="393192"/>
          </a:xfrm>
          <a:prstGeom prst="rect">
            <a:avLst/>
          </a:prstGeom>
          <a:solidFill>
            <a:srgbClr val="E7E9EC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366760" y="2441448"/>
            <a:ext cx="393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54747"/>
                </a:solidFill>
              </a:rPr>
              <a:t>3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8759952" y="2386584"/>
            <a:ext cx="393192" cy="393192"/>
          </a:xfrm>
          <a:prstGeom prst="rect">
            <a:avLst/>
          </a:prstGeom>
          <a:solidFill>
            <a:srgbClr val="C9CDD2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759952" y="2441448"/>
            <a:ext cx="393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</a:rPr>
              <a:t>#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9153144" y="2386584"/>
            <a:ext cx="393192" cy="393192"/>
          </a:xfrm>
          <a:prstGeom prst="rect">
            <a:avLst/>
          </a:prstGeom>
          <a:solidFill>
            <a:srgbClr val="C9CDD2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153144" y="2441448"/>
            <a:ext cx="393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</a:rPr>
              <a:t>#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9546336" y="2386584"/>
            <a:ext cx="393192" cy="393192"/>
          </a:xfrm>
          <a:prstGeom prst="rect">
            <a:avLst/>
          </a:prstGeom>
          <a:solidFill>
            <a:srgbClr val="C9CDD2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546336" y="2441448"/>
            <a:ext cx="393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</a:rPr>
              <a:t>#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6400800" y="2779776"/>
            <a:ext cx="393192" cy="393192"/>
          </a:xfrm>
          <a:prstGeom prst="rect">
            <a:avLst/>
          </a:prstGeom>
          <a:solidFill>
            <a:srgbClr val="C9CDD2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400800" y="2834640"/>
            <a:ext cx="393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</a:rPr>
              <a:t>#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6793992" y="2779776"/>
            <a:ext cx="393192" cy="393192"/>
          </a:xfrm>
          <a:prstGeom prst="rect">
            <a:avLst/>
          </a:prstGeom>
          <a:solidFill>
            <a:srgbClr val="E7E9EC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793992" y="2834640"/>
            <a:ext cx="393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4F"/>
                </a:solidFill>
              </a:rPr>
              <a:t>2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7187184" y="2779776"/>
            <a:ext cx="393192" cy="393192"/>
          </a:xfrm>
          <a:prstGeom prst="rect">
            <a:avLst/>
          </a:prstGeom>
          <a:solidFill>
            <a:srgbClr val="E7E9EC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187184" y="2834640"/>
            <a:ext cx="393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5FA8"/>
                </a:solidFill>
              </a:rPr>
              <a:t>1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7580376" y="2779776"/>
            <a:ext cx="393192" cy="393192"/>
          </a:xfrm>
          <a:prstGeom prst="rect">
            <a:avLst/>
          </a:prstGeom>
          <a:solidFill>
            <a:srgbClr val="E7E9EC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973568" y="2779776"/>
            <a:ext cx="393192" cy="393192"/>
          </a:xfrm>
          <a:prstGeom prst="rect">
            <a:avLst/>
          </a:prstGeom>
          <a:solidFill>
            <a:srgbClr val="E7E9EC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973568" y="2834640"/>
            <a:ext cx="393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5FA8"/>
                </a:solidFill>
              </a:rPr>
              <a:t>1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8366760" y="2779776"/>
            <a:ext cx="393192" cy="393192"/>
          </a:xfrm>
          <a:prstGeom prst="rect">
            <a:avLst/>
          </a:prstGeom>
          <a:solidFill>
            <a:srgbClr val="C9CDD2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366760" y="2834640"/>
            <a:ext cx="393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</a:rPr>
              <a:t>#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8759952" y="2779776"/>
            <a:ext cx="393192" cy="393192"/>
          </a:xfrm>
          <a:prstGeom prst="rect">
            <a:avLst/>
          </a:prstGeom>
          <a:solidFill>
            <a:srgbClr val="C9CDD2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759952" y="2834640"/>
            <a:ext cx="393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</a:rPr>
              <a:t>#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9153144" y="2779776"/>
            <a:ext cx="393192" cy="393192"/>
          </a:xfrm>
          <a:prstGeom prst="rect">
            <a:avLst/>
          </a:prstGeom>
          <a:solidFill>
            <a:srgbClr val="E7E9EC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9153144" y="2834640"/>
            <a:ext cx="393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5FA8"/>
                </a:solidFill>
              </a:rPr>
              <a:t>1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9546336" y="2779776"/>
            <a:ext cx="393192" cy="393192"/>
          </a:xfrm>
          <a:prstGeom prst="rect">
            <a:avLst/>
          </a:prstGeom>
          <a:solidFill>
            <a:srgbClr val="C9CDD2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9546336" y="2834640"/>
            <a:ext cx="393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</a:rPr>
              <a:t>#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6400800" y="3172968"/>
            <a:ext cx="393192" cy="393192"/>
          </a:xfrm>
          <a:prstGeom prst="rect">
            <a:avLst/>
          </a:prstGeom>
          <a:solidFill>
            <a:srgbClr val="C9CDD2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400800" y="3227832"/>
            <a:ext cx="393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</a:rPr>
              <a:t>#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6793992" y="3172968"/>
            <a:ext cx="393192" cy="393192"/>
          </a:xfrm>
          <a:prstGeom prst="rect">
            <a:avLst/>
          </a:prstGeom>
          <a:solidFill>
            <a:srgbClr val="C9CDD2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793992" y="3227832"/>
            <a:ext cx="393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</a:rPr>
              <a:t>#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7187184" y="3172968"/>
            <a:ext cx="393192" cy="393192"/>
          </a:xfrm>
          <a:prstGeom prst="rect">
            <a:avLst/>
          </a:prstGeom>
          <a:solidFill>
            <a:srgbClr val="C9CDD2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187184" y="3227832"/>
            <a:ext cx="393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</a:rPr>
              <a:t>#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7580376" y="3172968"/>
            <a:ext cx="393192" cy="393192"/>
          </a:xfrm>
          <a:prstGeom prst="rect">
            <a:avLst/>
          </a:prstGeom>
          <a:solidFill>
            <a:srgbClr val="E7E9EC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580376" y="3227832"/>
            <a:ext cx="393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5FA8"/>
                </a:solidFill>
              </a:rPr>
              <a:t>1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7973568" y="3172968"/>
            <a:ext cx="393192" cy="393192"/>
          </a:xfrm>
          <a:prstGeom prst="rect">
            <a:avLst/>
          </a:prstGeom>
          <a:solidFill>
            <a:srgbClr val="E7E9EC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973568" y="3227832"/>
            <a:ext cx="393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5FA8"/>
                </a:solidFill>
              </a:rPr>
              <a:t>1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8366760" y="3172968"/>
            <a:ext cx="393192" cy="393192"/>
          </a:xfrm>
          <a:prstGeom prst="rect">
            <a:avLst/>
          </a:prstGeom>
          <a:solidFill>
            <a:srgbClr val="E7E9EC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8366760" y="3227832"/>
            <a:ext cx="393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4F"/>
                </a:solidFill>
              </a:rPr>
              <a:t>2</a:t>
            </a:r>
            <a:endParaRPr lang="en-US" sz="1000" dirty="0"/>
          </a:p>
        </p:txBody>
      </p:sp>
      <p:sp>
        <p:nvSpPr>
          <p:cNvPr id="90" name="Shape 88"/>
          <p:cNvSpPr/>
          <p:nvPr/>
        </p:nvSpPr>
        <p:spPr>
          <a:xfrm>
            <a:off x="8759952" y="3172968"/>
            <a:ext cx="393192" cy="393192"/>
          </a:xfrm>
          <a:prstGeom prst="rect">
            <a:avLst/>
          </a:prstGeom>
          <a:solidFill>
            <a:srgbClr val="E7E9EC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8759952" y="3227832"/>
            <a:ext cx="393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5FA8"/>
                </a:solidFill>
              </a:rPr>
              <a:t>1</a:t>
            </a:r>
            <a:endParaRPr lang="en-US" sz="1000" dirty="0"/>
          </a:p>
        </p:txBody>
      </p:sp>
      <p:sp>
        <p:nvSpPr>
          <p:cNvPr id="92" name="Shape 90"/>
          <p:cNvSpPr/>
          <p:nvPr/>
        </p:nvSpPr>
        <p:spPr>
          <a:xfrm>
            <a:off x="9153144" y="3172968"/>
            <a:ext cx="393192" cy="393192"/>
          </a:xfrm>
          <a:prstGeom prst="rect">
            <a:avLst/>
          </a:prstGeom>
          <a:solidFill>
            <a:srgbClr val="C9CDD2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9153144" y="3227832"/>
            <a:ext cx="393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</a:rPr>
              <a:t>#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9546336" y="3172968"/>
            <a:ext cx="393192" cy="393192"/>
          </a:xfrm>
          <a:prstGeom prst="rect">
            <a:avLst/>
          </a:prstGeom>
          <a:solidFill>
            <a:srgbClr val="C9CDD2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9546336" y="3227832"/>
            <a:ext cx="393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</a:rPr>
              <a:t>#</a:t>
            </a:r>
            <a:endParaRPr lang="en-US" sz="1000" dirty="0"/>
          </a:p>
        </p:txBody>
      </p:sp>
      <p:sp>
        <p:nvSpPr>
          <p:cNvPr id="96" name="Shape 94"/>
          <p:cNvSpPr/>
          <p:nvPr/>
        </p:nvSpPr>
        <p:spPr>
          <a:xfrm>
            <a:off x="6400800" y="3566160"/>
            <a:ext cx="393192" cy="393192"/>
          </a:xfrm>
          <a:prstGeom prst="rect">
            <a:avLst/>
          </a:prstGeom>
          <a:solidFill>
            <a:srgbClr val="C9CDD2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6400800" y="3621024"/>
            <a:ext cx="393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</a:rPr>
              <a:t>#</a:t>
            </a:r>
            <a:endParaRPr lang="en-US" sz="1000" dirty="0"/>
          </a:p>
        </p:txBody>
      </p:sp>
      <p:sp>
        <p:nvSpPr>
          <p:cNvPr id="98" name="Shape 96"/>
          <p:cNvSpPr/>
          <p:nvPr/>
        </p:nvSpPr>
        <p:spPr>
          <a:xfrm>
            <a:off x="6793992" y="3566160"/>
            <a:ext cx="393192" cy="393192"/>
          </a:xfrm>
          <a:prstGeom prst="rect">
            <a:avLst/>
          </a:prstGeom>
          <a:solidFill>
            <a:srgbClr val="C9CDD2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793992" y="3621024"/>
            <a:ext cx="393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</a:rPr>
              <a:t>#</a:t>
            </a:r>
            <a:endParaRPr lang="en-US" sz="1000" dirty="0"/>
          </a:p>
        </p:txBody>
      </p:sp>
      <p:sp>
        <p:nvSpPr>
          <p:cNvPr id="100" name="Shape 98"/>
          <p:cNvSpPr/>
          <p:nvPr/>
        </p:nvSpPr>
        <p:spPr>
          <a:xfrm>
            <a:off x="7187184" y="3566160"/>
            <a:ext cx="393192" cy="393192"/>
          </a:xfrm>
          <a:prstGeom prst="rect">
            <a:avLst/>
          </a:prstGeom>
          <a:solidFill>
            <a:srgbClr val="C9CDD2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7187184" y="3621024"/>
            <a:ext cx="393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</a:rPr>
              <a:t>#</a:t>
            </a:r>
            <a:endParaRPr lang="en-US" sz="1000" dirty="0"/>
          </a:p>
        </p:txBody>
      </p:sp>
      <p:sp>
        <p:nvSpPr>
          <p:cNvPr id="102" name="Shape 100"/>
          <p:cNvSpPr/>
          <p:nvPr/>
        </p:nvSpPr>
        <p:spPr>
          <a:xfrm>
            <a:off x="7580376" y="3566160"/>
            <a:ext cx="393192" cy="393192"/>
          </a:xfrm>
          <a:prstGeom prst="rect">
            <a:avLst/>
          </a:prstGeom>
          <a:solidFill>
            <a:srgbClr val="C9CDD2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7580376" y="3621024"/>
            <a:ext cx="393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</a:rPr>
              <a:t>#</a:t>
            </a:r>
            <a:endParaRPr lang="en-US" sz="1000" dirty="0"/>
          </a:p>
        </p:txBody>
      </p:sp>
      <p:sp>
        <p:nvSpPr>
          <p:cNvPr id="104" name="Shape 102"/>
          <p:cNvSpPr/>
          <p:nvPr/>
        </p:nvSpPr>
        <p:spPr>
          <a:xfrm>
            <a:off x="7973568" y="3566160"/>
            <a:ext cx="393192" cy="393192"/>
          </a:xfrm>
          <a:prstGeom prst="rect">
            <a:avLst/>
          </a:prstGeom>
          <a:solidFill>
            <a:srgbClr val="C9CDD2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7973568" y="3621024"/>
            <a:ext cx="393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</a:rPr>
              <a:t>#</a:t>
            </a:r>
            <a:endParaRPr lang="en-US" sz="1000" dirty="0"/>
          </a:p>
        </p:txBody>
      </p:sp>
      <p:sp>
        <p:nvSpPr>
          <p:cNvPr id="106" name="Shape 104"/>
          <p:cNvSpPr/>
          <p:nvPr/>
        </p:nvSpPr>
        <p:spPr>
          <a:xfrm>
            <a:off x="8366760" y="3566160"/>
            <a:ext cx="393192" cy="393192"/>
          </a:xfrm>
          <a:prstGeom prst="rect">
            <a:avLst/>
          </a:prstGeom>
          <a:solidFill>
            <a:srgbClr val="C9CDD2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8366760" y="3621024"/>
            <a:ext cx="393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</a:rPr>
              <a:t>#</a:t>
            </a:r>
            <a:endParaRPr lang="en-US" sz="1000" dirty="0"/>
          </a:p>
        </p:txBody>
      </p:sp>
      <p:sp>
        <p:nvSpPr>
          <p:cNvPr id="108" name="Shape 106"/>
          <p:cNvSpPr/>
          <p:nvPr/>
        </p:nvSpPr>
        <p:spPr>
          <a:xfrm>
            <a:off x="8759952" y="3566160"/>
            <a:ext cx="393192" cy="393192"/>
          </a:xfrm>
          <a:prstGeom prst="rect">
            <a:avLst/>
          </a:prstGeom>
          <a:solidFill>
            <a:srgbClr val="E7E9EC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8759952" y="3621024"/>
            <a:ext cx="393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5FA8"/>
                </a:solidFill>
              </a:rPr>
              <a:t>1</a:t>
            </a:r>
            <a:endParaRPr lang="en-US" sz="1000" dirty="0"/>
          </a:p>
        </p:txBody>
      </p:sp>
      <p:sp>
        <p:nvSpPr>
          <p:cNvPr id="110" name="Shape 108"/>
          <p:cNvSpPr/>
          <p:nvPr/>
        </p:nvSpPr>
        <p:spPr>
          <a:xfrm>
            <a:off x="9153144" y="3566160"/>
            <a:ext cx="393192" cy="393192"/>
          </a:xfrm>
          <a:prstGeom prst="rect">
            <a:avLst/>
          </a:prstGeom>
          <a:solidFill>
            <a:srgbClr val="E7E9EC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9153144" y="3621024"/>
            <a:ext cx="393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4F"/>
                </a:solidFill>
              </a:rPr>
              <a:t>2</a:t>
            </a:r>
            <a:endParaRPr lang="en-US" sz="1000" dirty="0"/>
          </a:p>
        </p:txBody>
      </p:sp>
      <p:sp>
        <p:nvSpPr>
          <p:cNvPr id="112" name="Shape 110"/>
          <p:cNvSpPr/>
          <p:nvPr/>
        </p:nvSpPr>
        <p:spPr>
          <a:xfrm>
            <a:off x="9546336" y="3566160"/>
            <a:ext cx="393192" cy="393192"/>
          </a:xfrm>
          <a:prstGeom prst="rect">
            <a:avLst/>
          </a:prstGeom>
          <a:solidFill>
            <a:srgbClr val="C9CDD2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9546336" y="3621024"/>
            <a:ext cx="393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</a:rPr>
              <a:t>#</a:t>
            </a:r>
            <a:endParaRPr lang="en-US" sz="1000" dirty="0"/>
          </a:p>
        </p:txBody>
      </p:sp>
      <p:sp>
        <p:nvSpPr>
          <p:cNvPr id="114" name="Shape 112"/>
          <p:cNvSpPr/>
          <p:nvPr/>
        </p:nvSpPr>
        <p:spPr>
          <a:xfrm>
            <a:off x="6400800" y="3959352"/>
            <a:ext cx="393192" cy="393192"/>
          </a:xfrm>
          <a:prstGeom prst="rect">
            <a:avLst/>
          </a:prstGeom>
          <a:solidFill>
            <a:srgbClr val="C9CDD2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6400800" y="4014216"/>
            <a:ext cx="393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</a:rPr>
              <a:t>#</a:t>
            </a:r>
            <a:endParaRPr lang="en-US" sz="1000" dirty="0"/>
          </a:p>
        </p:txBody>
      </p:sp>
      <p:sp>
        <p:nvSpPr>
          <p:cNvPr id="116" name="Shape 114"/>
          <p:cNvSpPr/>
          <p:nvPr/>
        </p:nvSpPr>
        <p:spPr>
          <a:xfrm>
            <a:off x="6793992" y="3959352"/>
            <a:ext cx="393192" cy="393192"/>
          </a:xfrm>
          <a:prstGeom prst="rect">
            <a:avLst/>
          </a:prstGeom>
          <a:solidFill>
            <a:srgbClr val="C9CDD2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6793992" y="4014216"/>
            <a:ext cx="393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</a:rPr>
              <a:t>#</a:t>
            </a:r>
            <a:endParaRPr lang="en-US" sz="1000" dirty="0"/>
          </a:p>
        </p:txBody>
      </p:sp>
      <p:sp>
        <p:nvSpPr>
          <p:cNvPr id="118" name="Shape 116"/>
          <p:cNvSpPr/>
          <p:nvPr/>
        </p:nvSpPr>
        <p:spPr>
          <a:xfrm>
            <a:off x="7187184" y="3959352"/>
            <a:ext cx="393192" cy="393192"/>
          </a:xfrm>
          <a:prstGeom prst="rect">
            <a:avLst/>
          </a:prstGeom>
          <a:solidFill>
            <a:srgbClr val="E7E9EC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7187184" y="4014216"/>
            <a:ext cx="393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5FA8"/>
                </a:solidFill>
              </a:rPr>
              <a:t>1</a:t>
            </a:r>
            <a:endParaRPr lang="en-US" sz="1000" dirty="0"/>
          </a:p>
        </p:txBody>
      </p:sp>
      <p:sp>
        <p:nvSpPr>
          <p:cNvPr id="120" name="Shape 118"/>
          <p:cNvSpPr/>
          <p:nvPr/>
        </p:nvSpPr>
        <p:spPr>
          <a:xfrm>
            <a:off x="7580376" y="3959352"/>
            <a:ext cx="393192" cy="393192"/>
          </a:xfrm>
          <a:prstGeom prst="rect">
            <a:avLst/>
          </a:prstGeom>
          <a:solidFill>
            <a:srgbClr val="E7E9EC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7973568" y="3959352"/>
            <a:ext cx="393192" cy="393192"/>
          </a:xfrm>
          <a:prstGeom prst="rect">
            <a:avLst/>
          </a:prstGeom>
          <a:solidFill>
            <a:srgbClr val="E7E9EC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7973568" y="4014216"/>
            <a:ext cx="393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5FA8"/>
                </a:solidFill>
              </a:rPr>
              <a:t>1</a:t>
            </a:r>
            <a:endParaRPr lang="en-US" sz="1000" dirty="0"/>
          </a:p>
        </p:txBody>
      </p:sp>
      <p:sp>
        <p:nvSpPr>
          <p:cNvPr id="123" name="Shape 121"/>
          <p:cNvSpPr/>
          <p:nvPr/>
        </p:nvSpPr>
        <p:spPr>
          <a:xfrm>
            <a:off x="8366760" y="3959352"/>
            <a:ext cx="393192" cy="393192"/>
          </a:xfrm>
          <a:prstGeom prst="rect">
            <a:avLst/>
          </a:prstGeom>
          <a:solidFill>
            <a:srgbClr val="E7E9EC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8366760" y="4014216"/>
            <a:ext cx="393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5FA8"/>
                </a:solidFill>
              </a:rPr>
              <a:t>1</a:t>
            </a:r>
            <a:endParaRPr lang="en-US" sz="1000" dirty="0"/>
          </a:p>
        </p:txBody>
      </p:sp>
      <p:sp>
        <p:nvSpPr>
          <p:cNvPr id="125" name="Shape 123"/>
          <p:cNvSpPr/>
          <p:nvPr/>
        </p:nvSpPr>
        <p:spPr>
          <a:xfrm>
            <a:off x="8759952" y="3959352"/>
            <a:ext cx="393192" cy="393192"/>
          </a:xfrm>
          <a:prstGeom prst="rect">
            <a:avLst/>
          </a:prstGeom>
          <a:solidFill>
            <a:srgbClr val="E7E9EC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8759952" y="4014216"/>
            <a:ext cx="393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5FA8"/>
                </a:solidFill>
              </a:rPr>
              <a:t>1</a:t>
            </a:r>
            <a:endParaRPr lang="en-US" sz="1000" dirty="0"/>
          </a:p>
        </p:txBody>
      </p:sp>
      <p:sp>
        <p:nvSpPr>
          <p:cNvPr id="127" name="Shape 125"/>
          <p:cNvSpPr/>
          <p:nvPr/>
        </p:nvSpPr>
        <p:spPr>
          <a:xfrm>
            <a:off x="9153144" y="3959352"/>
            <a:ext cx="393192" cy="393192"/>
          </a:xfrm>
          <a:prstGeom prst="rect">
            <a:avLst/>
          </a:prstGeom>
          <a:solidFill>
            <a:srgbClr val="C9CDD2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9153144" y="4014216"/>
            <a:ext cx="393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</a:rPr>
              <a:t>#</a:t>
            </a:r>
            <a:endParaRPr lang="en-US" sz="1000" dirty="0"/>
          </a:p>
        </p:txBody>
      </p:sp>
      <p:sp>
        <p:nvSpPr>
          <p:cNvPr id="129" name="Shape 127"/>
          <p:cNvSpPr/>
          <p:nvPr/>
        </p:nvSpPr>
        <p:spPr>
          <a:xfrm>
            <a:off x="9546336" y="3959352"/>
            <a:ext cx="393192" cy="393192"/>
          </a:xfrm>
          <a:prstGeom prst="rect">
            <a:avLst/>
          </a:prstGeom>
          <a:solidFill>
            <a:srgbClr val="C9CDD2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9546336" y="4014216"/>
            <a:ext cx="393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</a:rPr>
              <a:t>#</a:t>
            </a:r>
            <a:endParaRPr lang="en-US" sz="1000" dirty="0"/>
          </a:p>
        </p:txBody>
      </p:sp>
      <p:sp>
        <p:nvSpPr>
          <p:cNvPr id="131" name="Shape 129"/>
          <p:cNvSpPr/>
          <p:nvPr/>
        </p:nvSpPr>
        <p:spPr>
          <a:xfrm>
            <a:off x="6400800" y="4352544"/>
            <a:ext cx="393192" cy="393192"/>
          </a:xfrm>
          <a:prstGeom prst="rect">
            <a:avLst/>
          </a:prstGeom>
          <a:solidFill>
            <a:srgbClr val="C9CDD2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6400800" y="4407408"/>
            <a:ext cx="393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</a:rPr>
              <a:t>#</a:t>
            </a:r>
            <a:endParaRPr lang="en-US" sz="1000" dirty="0"/>
          </a:p>
        </p:txBody>
      </p:sp>
      <p:sp>
        <p:nvSpPr>
          <p:cNvPr id="133" name="Shape 131"/>
          <p:cNvSpPr/>
          <p:nvPr/>
        </p:nvSpPr>
        <p:spPr>
          <a:xfrm>
            <a:off x="6793992" y="4352544"/>
            <a:ext cx="393192" cy="393192"/>
          </a:xfrm>
          <a:prstGeom prst="rect">
            <a:avLst/>
          </a:prstGeom>
          <a:solidFill>
            <a:srgbClr val="C9CDD2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6793992" y="4407408"/>
            <a:ext cx="393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</a:rPr>
              <a:t>#</a:t>
            </a:r>
            <a:endParaRPr lang="en-US" sz="1000" dirty="0"/>
          </a:p>
        </p:txBody>
      </p:sp>
      <p:sp>
        <p:nvSpPr>
          <p:cNvPr id="135" name="Shape 133"/>
          <p:cNvSpPr/>
          <p:nvPr/>
        </p:nvSpPr>
        <p:spPr>
          <a:xfrm>
            <a:off x="7187184" y="4352544"/>
            <a:ext cx="393192" cy="393192"/>
          </a:xfrm>
          <a:prstGeom prst="rect">
            <a:avLst/>
          </a:prstGeom>
          <a:solidFill>
            <a:srgbClr val="C9CDD2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7187184" y="4407408"/>
            <a:ext cx="393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</a:rPr>
              <a:t>#</a:t>
            </a:r>
            <a:endParaRPr lang="en-US" sz="1000" dirty="0"/>
          </a:p>
        </p:txBody>
      </p:sp>
      <p:sp>
        <p:nvSpPr>
          <p:cNvPr id="137" name="Shape 135"/>
          <p:cNvSpPr/>
          <p:nvPr/>
        </p:nvSpPr>
        <p:spPr>
          <a:xfrm>
            <a:off x="7580376" y="4352544"/>
            <a:ext cx="393192" cy="393192"/>
          </a:xfrm>
          <a:prstGeom prst="rect">
            <a:avLst/>
          </a:prstGeom>
          <a:solidFill>
            <a:srgbClr val="C9CDD2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7580376" y="4407408"/>
            <a:ext cx="393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</a:rPr>
              <a:t>#</a:t>
            </a:r>
            <a:endParaRPr lang="en-US" sz="1000" dirty="0"/>
          </a:p>
        </p:txBody>
      </p:sp>
      <p:sp>
        <p:nvSpPr>
          <p:cNvPr id="139" name="Shape 137"/>
          <p:cNvSpPr/>
          <p:nvPr/>
        </p:nvSpPr>
        <p:spPr>
          <a:xfrm>
            <a:off x="7973568" y="4352544"/>
            <a:ext cx="393192" cy="393192"/>
          </a:xfrm>
          <a:prstGeom prst="rect">
            <a:avLst/>
          </a:prstGeom>
          <a:solidFill>
            <a:srgbClr val="C9CDD2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7973568" y="4407408"/>
            <a:ext cx="393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</a:rPr>
              <a:t>#</a:t>
            </a:r>
            <a:endParaRPr lang="en-US" sz="1000" dirty="0"/>
          </a:p>
        </p:txBody>
      </p:sp>
      <p:sp>
        <p:nvSpPr>
          <p:cNvPr id="141" name="Shape 139"/>
          <p:cNvSpPr/>
          <p:nvPr/>
        </p:nvSpPr>
        <p:spPr>
          <a:xfrm>
            <a:off x="8366760" y="4352544"/>
            <a:ext cx="393192" cy="393192"/>
          </a:xfrm>
          <a:prstGeom prst="rect">
            <a:avLst/>
          </a:prstGeom>
          <a:solidFill>
            <a:srgbClr val="E7E9EC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8366760" y="4407408"/>
            <a:ext cx="393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4F"/>
                </a:solidFill>
              </a:rPr>
              <a:t>2</a:t>
            </a:r>
            <a:endParaRPr lang="en-US" sz="1000" dirty="0"/>
          </a:p>
        </p:txBody>
      </p:sp>
      <p:sp>
        <p:nvSpPr>
          <p:cNvPr id="143" name="Shape 141"/>
          <p:cNvSpPr/>
          <p:nvPr/>
        </p:nvSpPr>
        <p:spPr>
          <a:xfrm>
            <a:off x="8759952" y="4352544"/>
            <a:ext cx="393192" cy="393192"/>
          </a:xfrm>
          <a:prstGeom prst="rect">
            <a:avLst/>
          </a:prstGeom>
          <a:solidFill>
            <a:srgbClr val="C9CDD2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8759952" y="4407408"/>
            <a:ext cx="393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</a:rPr>
              <a:t>#</a:t>
            </a:r>
            <a:endParaRPr lang="en-US" sz="1000" dirty="0"/>
          </a:p>
        </p:txBody>
      </p:sp>
      <p:sp>
        <p:nvSpPr>
          <p:cNvPr id="145" name="Shape 143"/>
          <p:cNvSpPr/>
          <p:nvPr/>
        </p:nvSpPr>
        <p:spPr>
          <a:xfrm>
            <a:off x="9153144" y="4352544"/>
            <a:ext cx="393192" cy="393192"/>
          </a:xfrm>
          <a:prstGeom prst="rect">
            <a:avLst/>
          </a:prstGeom>
          <a:solidFill>
            <a:srgbClr val="C9CDD2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9153144" y="4407408"/>
            <a:ext cx="393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</a:rPr>
              <a:t>#</a:t>
            </a:r>
            <a:endParaRPr lang="en-US" sz="1000" dirty="0"/>
          </a:p>
        </p:txBody>
      </p:sp>
      <p:sp>
        <p:nvSpPr>
          <p:cNvPr id="147" name="Shape 145"/>
          <p:cNvSpPr/>
          <p:nvPr/>
        </p:nvSpPr>
        <p:spPr>
          <a:xfrm>
            <a:off x="9546336" y="4352544"/>
            <a:ext cx="393192" cy="393192"/>
          </a:xfrm>
          <a:prstGeom prst="rect">
            <a:avLst/>
          </a:prstGeom>
          <a:solidFill>
            <a:srgbClr val="C9CDD2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9546336" y="4407408"/>
            <a:ext cx="393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</a:rPr>
              <a:t>#</a:t>
            </a:r>
            <a:endParaRPr lang="en-US" sz="1000" dirty="0"/>
          </a:p>
        </p:txBody>
      </p:sp>
      <p:sp>
        <p:nvSpPr>
          <p:cNvPr id="149" name="Shape 147"/>
          <p:cNvSpPr/>
          <p:nvPr/>
        </p:nvSpPr>
        <p:spPr>
          <a:xfrm>
            <a:off x="6400800" y="4745736"/>
            <a:ext cx="393192" cy="393192"/>
          </a:xfrm>
          <a:prstGeom prst="rect">
            <a:avLst/>
          </a:prstGeom>
          <a:solidFill>
            <a:srgbClr val="C9CDD2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6400800" y="4800600"/>
            <a:ext cx="393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</a:rPr>
              <a:t>#</a:t>
            </a:r>
            <a:endParaRPr lang="en-US" sz="1000" dirty="0"/>
          </a:p>
        </p:txBody>
      </p:sp>
      <p:sp>
        <p:nvSpPr>
          <p:cNvPr id="151" name="Shape 149"/>
          <p:cNvSpPr/>
          <p:nvPr/>
        </p:nvSpPr>
        <p:spPr>
          <a:xfrm>
            <a:off x="6793992" y="4745736"/>
            <a:ext cx="393192" cy="393192"/>
          </a:xfrm>
          <a:prstGeom prst="rect">
            <a:avLst/>
          </a:prstGeom>
          <a:solidFill>
            <a:srgbClr val="C9CDD2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6793992" y="4800600"/>
            <a:ext cx="393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</a:rPr>
              <a:t>#</a:t>
            </a:r>
            <a:endParaRPr lang="en-US" sz="1000" dirty="0"/>
          </a:p>
        </p:txBody>
      </p:sp>
      <p:sp>
        <p:nvSpPr>
          <p:cNvPr id="153" name="Shape 151"/>
          <p:cNvSpPr/>
          <p:nvPr/>
        </p:nvSpPr>
        <p:spPr>
          <a:xfrm>
            <a:off x="7187184" y="4745736"/>
            <a:ext cx="393192" cy="393192"/>
          </a:xfrm>
          <a:prstGeom prst="rect">
            <a:avLst/>
          </a:prstGeom>
          <a:solidFill>
            <a:srgbClr val="C9CDD2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7187184" y="4800600"/>
            <a:ext cx="393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</a:rPr>
              <a:t>#</a:t>
            </a:r>
            <a:endParaRPr lang="en-US" sz="1000" dirty="0"/>
          </a:p>
        </p:txBody>
      </p:sp>
      <p:sp>
        <p:nvSpPr>
          <p:cNvPr id="155" name="Shape 153"/>
          <p:cNvSpPr/>
          <p:nvPr/>
        </p:nvSpPr>
        <p:spPr>
          <a:xfrm>
            <a:off x="7580376" y="4745736"/>
            <a:ext cx="393192" cy="393192"/>
          </a:xfrm>
          <a:prstGeom prst="rect">
            <a:avLst/>
          </a:prstGeom>
          <a:solidFill>
            <a:srgbClr val="C9CDD2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7580376" y="4800600"/>
            <a:ext cx="393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</a:rPr>
              <a:t>#</a:t>
            </a:r>
            <a:endParaRPr lang="en-US" sz="1000" dirty="0"/>
          </a:p>
        </p:txBody>
      </p:sp>
      <p:sp>
        <p:nvSpPr>
          <p:cNvPr id="157" name="Shape 155"/>
          <p:cNvSpPr/>
          <p:nvPr/>
        </p:nvSpPr>
        <p:spPr>
          <a:xfrm>
            <a:off x="7973568" y="4745736"/>
            <a:ext cx="393192" cy="393192"/>
          </a:xfrm>
          <a:prstGeom prst="rect">
            <a:avLst/>
          </a:prstGeom>
          <a:solidFill>
            <a:srgbClr val="C9CDD2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7973568" y="4800600"/>
            <a:ext cx="393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</a:rPr>
              <a:t>#</a:t>
            </a:r>
            <a:endParaRPr lang="en-US" sz="1000" dirty="0"/>
          </a:p>
        </p:txBody>
      </p:sp>
      <p:sp>
        <p:nvSpPr>
          <p:cNvPr id="159" name="Shape 157"/>
          <p:cNvSpPr/>
          <p:nvPr/>
        </p:nvSpPr>
        <p:spPr>
          <a:xfrm>
            <a:off x="8366760" y="4745736"/>
            <a:ext cx="393192" cy="393192"/>
          </a:xfrm>
          <a:prstGeom prst="rect">
            <a:avLst/>
          </a:prstGeom>
          <a:solidFill>
            <a:srgbClr val="C9CDD2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8366760" y="4800600"/>
            <a:ext cx="393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</a:rPr>
              <a:t>#</a:t>
            </a:r>
            <a:endParaRPr lang="en-US" sz="1000" dirty="0"/>
          </a:p>
        </p:txBody>
      </p:sp>
      <p:sp>
        <p:nvSpPr>
          <p:cNvPr id="161" name="Shape 159"/>
          <p:cNvSpPr/>
          <p:nvPr/>
        </p:nvSpPr>
        <p:spPr>
          <a:xfrm>
            <a:off x="8759952" y="4745736"/>
            <a:ext cx="393192" cy="393192"/>
          </a:xfrm>
          <a:prstGeom prst="rect">
            <a:avLst/>
          </a:prstGeom>
          <a:solidFill>
            <a:srgbClr val="C9CDD2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8759952" y="4800600"/>
            <a:ext cx="393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</a:rPr>
              <a:t>#</a:t>
            </a:r>
            <a:endParaRPr lang="en-US" sz="1000" dirty="0"/>
          </a:p>
        </p:txBody>
      </p:sp>
      <p:sp>
        <p:nvSpPr>
          <p:cNvPr id="163" name="Shape 161"/>
          <p:cNvSpPr/>
          <p:nvPr/>
        </p:nvSpPr>
        <p:spPr>
          <a:xfrm>
            <a:off x="9153144" y="4745736"/>
            <a:ext cx="393192" cy="393192"/>
          </a:xfrm>
          <a:prstGeom prst="rect">
            <a:avLst/>
          </a:prstGeom>
          <a:solidFill>
            <a:srgbClr val="C9CDD2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9153144" y="4800600"/>
            <a:ext cx="393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</a:rPr>
              <a:t>#</a:t>
            </a:r>
            <a:endParaRPr lang="en-US" sz="1000" dirty="0"/>
          </a:p>
        </p:txBody>
      </p:sp>
      <p:sp>
        <p:nvSpPr>
          <p:cNvPr id="165" name="Shape 163"/>
          <p:cNvSpPr/>
          <p:nvPr/>
        </p:nvSpPr>
        <p:spPr>
          <a:xfrm>
            <a:off x="9546336" y="4745736"/>
            <a:ext cx="393192" cy="393192"/>
          </a:xfrm>
          <a:prstGeom prst="rect">
            <a:avLst/>
          </a:prstGeom>
          <a:solidFill>
            <a:srgbClr val="C9CDD2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9546336" y="4800600"/>
            <a:ext cx="393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</a:rPr>
              <a:t>#</a:t>
            </a:r>
            <a:endParaRPr lang="en-US" sz="1000" dirty="0"/>
          </a:p>
        </p:txBody>
      </p:sp>
      <p:sp>
        <p:nvSpPr>
          <p:cNvPr id="167" name="Shape 165"/>
          <p:cNvSpPr/>
          <p:nvPr/>
        </p:nvSpPr>
        <p:spPr>
          <a:xfrm>
            <a:off x="9162288" y="2350008"/>
            <a:ext cx="201168" cy="201168"/>
          </a:xfrm>
          <a:prstGeom prst="ellipse">
            <a:avLst/>
          </a:prstGeom>
          <a:solidFill>
            <a:srgbClr val="C97924"/>
          </a:solidFill>
          <a:ln w="12700">
            <a:solidFill>
              <a:srgbClr val="C97924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6400800" y="532180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7924"/>
                </a:solidFill>
              </a:rPr>
              <a:t>Human choice</a:t>
            </a:r>
            <a:endParaRPr lang="en-US" sz="1200" dirty="0"/>
          </a:p>
        </p:txBody>
      </p:sp>
      <p:sp>
        <p:nvSpPr>
          <p:cNvPr id="169" name="Text 167"/>
          <p:cNvSpPr/>
          <p:nvPr/>
        </p:nvSpPr>
        <p:spPr>
          <a:xfrm>
            <a:off x="7516368" y="528523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Different plausible moves can carry different symbols / digits.</a:t>
            </a:r>
            <a:endParaRPr lang="en-US" sz="1100" dirty="0"/>
          </a:p>
        </p:txBody>
      </p:sp>
      <p:sp>
        <p:nvSpPr>
          <p:cNvPr id="170" name="Shape 168"/>
          <p:cNvSpPr/>
          <p:nvPr/>
        </p:nvSpPr>
        <p:spPr>
          <a:xfrm>
            <a:off x="594360" y="3840480"/>
            <a:ext cx="2377440" cy="1325880"/>
          </a:xfrm>
          <a:prstGeom prst="roundRect">
            <a:avLst>
              <a:gd name="adj" fmla="val 4138"/>
            </a:avLst>
          </a:prstGeom>
          <a:solidFill>
            <a:srgbClr val="EAF2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594360" y="3840480"/>
            <a:ext cx="64008" cy="132588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813816" y="40050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939"/>
                </a:solidFill>
              </a:rPr>
              <a:t>Goal</a:t>
            </a:r>
            <a:endParaRPr lang="en-US" sz="1600" dirty="0"/>
          </a:p>
        </p:txBody>
      </p:sp>
      <p:sp>
        <p:nvSpPr>
          <p:cNvPr id="173" name="Text 171"/>
          <p:cNvSpPr/>
          <p:nvPr/>
        </p:nvSpPr>
        <p:spPr>
          <a:xfrm>
            <a:off x="813816" y="4407408"/>
            <a:ext cx="2011680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</a:rPr>
              <a:t>Preserve low mine risk while making the move sequence look natural.</a:t>
            </a:r>
            <a:endParaRPr lang="en-US" sz="1200" dirty="0"/>
          </a:p>
        </p:txBody>
      </p:sp>
      <p:sp>
        <p:nvSpPr>
          <p:cNvPr id="174" name="Shape 172"/>
          <p:cNvSpPr/>
          <p:nvPr/>
        </p:nvSpPr>
        <p:spPr>
          <a:xfrm>
            <a:off x="3154680" y="3840480"/>
            <a:ext cx="2377440" cy="1325880"/>
          </a:xfrm>
          <a:prstGeom prst="roundRect">
            <a:avLst>
              <a:gd name="adj" fmla="val 4138"/>
            </a:avLst>
          </a:prstGeom>
          <a:solidFill>
            <a:srgbClr val="FFF1E2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3154680" y="3840480"/>
            <a:ext cx="64008" cy="1325880"/>
          </a:xfrm>
          <a:prstGeom prst="rect">
            <a:avLst/>
          </a:prstGeom>
          <a:solidFill>
            <a:srgbClr val="C97924"/>
          </a:solidFill>
          <a:ln w="12700">
            <a:solidFill>
              <a:srgbClr val="C97924"/>
            </a:solidFill>
            <a:prstDash val="solid"/>
          </a:ln>
        </p:spPr>
      </p:sp>
      <p:sp>
        <p:nvSpPr>
          <p:cNvPr id="176" name="Text 174"/>
          <p:cNvSpPr/>
          <p:nvPr/>
        </p:nvSpPr>
        <p:spPr>
          <a:xfrm>
            <a:off x="3374136" y="40050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939"/>
                </a:solidFill>
              </a:rPr>
              <a:t>Key Question</a:t>
            </a:r>
            <a:endParaRPr lang="en-US" sz="1600" dirty="0"/>
          </a:p>
        </p:txBody>
      </p:sp>
      <p:sp>
        <p:nvSpPr>
          <p:cNvPr id="177" name="Text 175"/>
          <p:cNvSpPr/>
          <p:nvPr/>
        </p:nvSpPr>
        <p:spPr>
          <a:xfrm>
            <a:off x="3374136" y="4407408"/>
            <a:ext cx="2011680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</a:rPr>
              <a:t>How much information can gameplay carry without becoming behaviorally unusual?</a:t>
            </a:r>
            <a:endParaRPr lang="en-US" sz="1200" dirty="0"/>
          </a:p>
        </p:txBody>
      </p:sp>
      <p:sp>
        <p:nvSpPr>
          <p:cNvPr id="178" name="Shape 176"/>
          <p:cNvSpPr/>
          <p:nvPr/>
        </p:nvSpPr>
        <p:spPr>
          <a:xfrm>
            <a:off x="5715000" y="3840480"/>
            <a:ext cx="2377440" cy="1325880"/>
          </a:xfrm>
          <a:prstGeom prst="roundRect">
            <a:avLst>
              <a:gd name="adj" fmla="val 4138"/>
            </a:avLst>
          </a:prstGeom>
          <a:solidFill>
            <a:srgbClr val="EAF5EE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5715000" y="3840480"/>
            <a:ext cx="64008" cy="1325880"/>
          </a:xfrm>
          <a:prstGeom prst="rect">
            <a:avLst/>
          </a:prstGeom>
          <a:solidFill>
            <a:srgbClr val="2F7D4A"/>
          </a:solidFill>
          <a:ln w="12700">
            <a:solidFill>
              <a:srgbClr val="2F7D4A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5934456" y="40050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939"/>
                </a:solidFill>
              </a:rPr>
              <a:t>Current Step</a:t>
            </a:r>
            <a:endParaRPr lang="en-US" sz="1600" dirty="0"/>
          </a:p>
        </p:txBody>
      </p:sp>
      <p:sp>
        <p:nvSpPr>
          <p:cNvPr id="181" name="Text 179"/>
          <p:cNvSpPr/>
          <p:nvPr/>
        </p:nvSpPr>
        <p:spPr>
          <a:xfrm>
            <a:off x="5934456" y="4407408"/>
            <a:ext cx="2011680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</a:rPr>
              <a:t>Collect real human decisions from a clickable Minesweeper clone.</a:t>
            </a:r>
            <a:endParaRPr lang="en-US" sz="1200" dirty="0"/>
          </a:p>
        </p:txBody>
      </p:sp>
      <p:sp>
        <p:nvSpPr>
          <p:cNvPr id="182" name="Shape 180"/>
          <p:cNvSpPr/>
          <p:nvPr/>
        </p:nvSpPr>
        <p:spPr>
          <a:xfrm>
            <a:off x="8275320" y="3840480"/>
            <a:ext cx="297180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8275320" y="3840480"/>
            <a:ext cx="64008" cy="13258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84" name="Text 182"/>
          <p:cNvSpPr/>
          <p:nvPr/>
        </p:nvSpPr>
        <p:spPr>
          <a:xfrm>
            <a:off x="8494776" y="400507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939"/>
                </a:solidFill>
              </a:rPr>
              <a:t>Later Evaluation</a:t>
            </a:r>
            <a:endParaRPr lang="en-US" sz="1600" dirty="0"/>
          </a:p>
        </p:txBody>
      </p:sp>
      <p:sp>
        <p:nvSpPr>
          <p:cNvPr id="185" name="Text 183"/>
          <p:cNvSpPr/>
          <p:nvPr/>
        </p:nvSpPr>
        <p:spPr>
          <a:xfrm>
            <a:off x="8494776" y="4407408"/>
            <a:ext cx="2606040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</a:rPr>
              <a:t>Capacity • decoding accuracy • risk • win rate • human similarity.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Clickable Minesweeper: Data Collection Interface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player interacts normally; the system records the decision automatically.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38328" cy="338328"/>
          </a:xfrm>
          <a:prstGeom prst="rect">
            <a:avLst/>
          </a:prstGeom>
          <a:solidFill>
            <a:srgbClr val="C7CBD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63040"/>
            <a:ext cx="338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7085"/>
                </a:solidFill>
              </a:rPr>
              <a:t>#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978408" y="1417320"/>
            <a:ext cx="338328" cy="338328"/>
          </a:xfrm>
          <a:prstGeom prst="rect">
            <a:avLst/>
          </a:prstGeom>
          <a:solidFill>
            <a:srgbClr val="C7CBD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1463040"/>
            <a:ext cx="338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7085"/>
                </a:solidFill>
              </a:rPr>
              <a:t>#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316736" y="1417320"/>
            <a:ext cx="338328" cy="338328"/>
          </a:xfrm>
          <a:prstGeom prst="rect">
            <a:avLst/>
          </a:prstGeom>
          <a:solidFill>
            <a:srgbClr val="C7CBD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16736" y="1463040"/>
            <a:ext cx="338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7085"/>
                </a:solidFill>
              </a:rPr>
              <a:t>#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655064" y="1417320"/>
            <a:ext cx="338328" cy="338328"/>
          </a:xfrm>
          <a:prstGeom prst="rect">
            <a:avLst/>
          </a:prstGeom>
          <a:solidFill>
            <a:srgbClr val="C7CBD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55064" y="1463040"/>
            <a:ext cx="338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7085"/>
                </a:solidFill>
              </a:rPr>
              <a:t>#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993392" y="1417320"/>
            <a:ext cx="338328" cy="338328"/>
          </a:xfrm>
          <a:prstGeom prst="rect">
            <a:avLst/>
          </a:prstGeom>
          <a:solidFill>
            <a:srgbClr val="C7CBD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93392" y="1463040"/>
            <a:ext cx="338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7085"/>
                </a:solidFill>
              </a:rPr>
              <a:t>#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331720" y="1417320"/>
            <a:ext cx="338328" cy="338328"/>
          </a:xfrm>
          <a:prstGeom prst="rect">
            <a:avLst/>
          </a:prstGeom>
          <a:solidFill>
            <a:srgbClr val="C7CBD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31720" y="1463040"/>
            <a:ext cx="338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7085"/>
                </a:solidFill>
              </a:rPr>
              <a:t>#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670048" y="1417320"/>
            <a:ext cx="338328" cy="338328"/>
          </a:xfrm>
          <a:prstGeom prst="rect">
            <a:avLst/>
          </a:prstGeom>
          <a:solidFill>
            <a:srgbClr val="C7CBD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70048" y="1463040"/>
            <a:ext cx="338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7085"/>
                </a:solidFill>
              </a:rPr>
              <a:t>#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008376" y="1417320"/>
            <a:ext cx="338328" cy="338328"/>
          </a:xfrm>
          <a:prstGeom prst="rect">
            <a:avLst/>
          </a:prstGeom>
          <a:solidFill>
            <a:srgbClr val="C7CBD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08376" y="1463040"/>
            <a:ext cx="338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7085"/>
                </a:solidFill>
              </a:rPr>
              <a:t>#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346704" y="1417320"/>
            <a:ext cx="338328" cy="338328"/>
          </a:xfrm>
          <a:prstGeom prst="rect">
            <a:avLst/>
          </a:prstGeom>
          <a:solidFill>
            <a:srgbClr val="C7CBD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46704" y="1463040"/>
            <a:ext cx="338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7085"/>
                </a:solidFill>
              </a:rPr>
              <a:t>#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85032" y="1417320"/>
            <a:ext cx="338328" cy="338328"/>
          </a:xfrm>
          <a:prstGeom prst="rect">
            <a:avLst/>
          </a:prstGeom>
          <a:solidFill>
            <a:srgbClr val="C7CBD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85032" y="1463040"/>
            <a:ext cx="338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7085"/>
                </a:solidFill>
              </a:rPr>
              <a:t>#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023360" y="1417320"/>
            <a:ext cx="338328" cy="338328"/>
          </a:xfrm>
          <a:prstGeom prst="rect">
            <a:avLst/>
          </a:prstGeom>
          <a:solidFill>
            <a:srgbClr val="C7CBD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23360" y="1463040"/>
            <a:ext cx="338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7085"/>
                </a:solidFill>
              </a:rPr>
              <a:t>#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0080" y="1755648"/>
            <a:ext cx="338328" cy="338328"/>
          </a:xfrm>
          <a:prstGeom prst="rect">
            <a:avLst/>
          </a:prstGeom>
          <a:solidFill>
            <a:srgbClr val="C7CBD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1801368"/>
            <a:ext cx="338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7085"/>
                </a:solidFill>
              </a:rPr>
              <a:t>#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78408" y="1755648"/>
            <a:ext cx="338328" cy="338328"/>
          </a:xfrm>
          <a:prstGeom prst="rect">
            <a:avLst/>
          </a:prstGeom>
          <a:solidFill>
            <a:srgbClr val="E4E7EA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78408" y="1801368"/>
            <a:ext cx="338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5FA8"/>
                </a:solidFill>
              </a:rPr>
              <a:t>1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316736" y="1755648"/>
            <a:ext cx="338328" cy="338328"/>
          </a:xfrm>
          <a:prstGeom prst="rect">
            <a:avLst/>
          </a:prstGeom>
          <a:solidFill>
            <a:srgbClr val="E4E7EA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316736" y="1801368"/>
            <a:ext cx="338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5FA8"/>
                </a:solidFill>
              </a:rPr>
              <a:t>1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655064" y="1755648"/>
            <a:ext cx="338328" cy="338328"/>
          </a:xfrm>
          <a:prstGeom prst="rect">
            <a:avLst/>
          </a:prstGeom>
          <a:solidFill>
            <a:srgbClr val="E4E7EA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655064" y="1801368"/>
            <a:ext cx="338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7D4A"/>
                </a:solidFill>
              </a:rPr>
              <a:t>2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993392" y="1755648"/>
            <a:ext cx="338328" cy="338328"/>
          </a:xfrm>
          <a:prstGeom prst="rect">
            <a:avLst/>
          </a:prstGeom>
          <a:solidFill>
            <a:srgbClr val="C7CBD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993392" y="1801368"/>
            <a:ext cx="338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7085"/>
                </a:solidFill>
              </a:rPr>
              <a:t>#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331720" y="1755648"/>
            <a:ext cx="338328" cy="338328"/>
          </a:xfrm>
          <a:prstGeom prst="rect">
            <a:avLst/>
          </a:prstGeom>
          <a:solidFill>
            <a:srgbClr val="C7CBD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331720" y="1801368"/>
            <a:ext cx="338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7085"/>
                </a:solidFill>
              </a:rPr>
              <a:t>#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670048" y="1755648"/>
            <a:ext cx="338328" cy="338328"/>
          </a:xfrm>
          <a:prstGeom prst="rect">
            <a:avLst/>
          </a:prstGeom>
          <a:solidFill>
            <a:srgbClr val="E4E7EA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70048" y="1801368"/>
            <a:ext cx="338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5FA8"/>
                </a:solidFill>
              </a:rPr>
              <a:t>1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008376" y="1755648"/>
            <a:ext cx="338328" cy="338328"/>
          </a:xfrm>
          <a:prstGeom prst="rect">
            <a:avLst/>
          </a:prstGeom>
          <a:solidFill>
            <a:srgbClr val="E4E7EA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008376" y="1801368"/>
            <a:ext cx="338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5FA8"/>
                </a:solidFill>
              </a:rPr>
              <a:t>1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346704" y="1755648"/>
            <a:ext cx="338328" cy="338328"/>
          </a:xfrm>
          <a:prstGeom prst="rect">
            <a:avLst/>
          </a:prstGeom>
          <a:solidFill>
            <a:srgbClr val="C7CBD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46704" y="1801368"/>
            <a:ext cx="338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7085"/>
                </a:solidFill>
              </a:rPr>
              <a:t>#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685032" y="1755648"/>
            <a:ext cx="338328" cy="338328"/>
          </a:xfrm>
          <a:prstGeom prst="rect">
            <a:avLst/>
          </a:prstGeom>
          <a:solidFill>
            <a:srgbClr val="C7CBD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85032" y="1801368"/>
            <a:ext cx="338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7085"/>
                </a:solidFill>
              </a:rPr>
              <a:t>#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023360" y="1755648"/>
            <a:ext cx="338328" cy="338328"/>
          </a:xfrm>
          <a:prstGeom prst="rect">
            <a:avLst/>
          </a:prstGeom>
          <a:solidFill>
            <a:srgbClr val="C7CBD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023360" y="1801368"/>
            <a:ext cx="338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7085"/>
                </a:solidFill>
              </a:rPr>
              <a:t>#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40080" y="2093976"/>
            <a:ext cx="338328" cy="338328"/>
          </a:xfrm>
          <a:prstGeom prst="rect">
            <a:avLst/>
          </a:prstGeom>
          <a:solidFill>
            <a:srgbClr val="C7CBD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0080" y="2139696"/>
            <a:ext cx="338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7085"/>
                </a:solidFill>
              </a:rPr>
              <a:t>#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978408" y="2093976"/>
            <a:ext cx="338328" cy="338328"/>
          </a:xfrm>
          <a:prstGeom prst="rect">
            <a:avLst/>
          </a:prstGeom>
          <a:solidFill>
            <a:srgbClr val="E4E7EA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78408" y="2139696"/>
            <a:ext cx="338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5FA8"/>
                </a:solidFill>
              </a:rPr>
              <a:t>1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1316736" y="2093976"/>
            <a:ext cx="338328" cy="338328"/>
          </a:xfrm>
          <a:prstGeom prst="rect">
            <a:avLst/>
          </a:prstGeom>
          <a:solidFill>
            <a:srgbClr val="E4E7EA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655064" y="2093976"/>
            <a:ext cx="338328" cy="338328"/>
          </a:xfrm>
          <a:prstGeom prst="rect">
            <a:avLst/>
          </a:prstGeom>
          <a:solidFill>
            <a:srgbClr val="E4E7EA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655064" y="2139696"/>
            <a:ext cx="338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5FA8"/>
                </a:solidFill>
              </a:rPr>
              <a:t>1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1993392" y="2093976"/>
            <a:ext cx="338328" cy="338328"/>
          </a:xfrm>
          <a:prstGeom prst="rect">
            <a:avLst/>
          </a:prstGeom>
          <a:solidFill>
            <a:srgbClr val="E4E7EA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993392" y="2139696"/>
            <a:ext cx="338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7D4A"/>
                </a:solidFill>
              </a:rPr>
              <a:t>2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2331720" y="2093976"/>
            <a:ext cx="338328" cy="338328"/>
          </a:xfrm>
          <a:prstGeom prst="rect">
            <a:avLst/>
          </a:prstGeom>
          <a:solidFill>
            <a:srgbClr val="E4E7EA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331720" y="2139696"/>
            <a:ext cx="338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7D4A"/>
                </a:solidFill>
              </a:rPr>
              <a:t>2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2670048" y="2093976"/>
            <a:ext cx="338328" cy="338328"/>
          </a:xfrm>
          <a:prstGeom prst="rect">
            <a:avLst/>
          </a:prstGeom>
          <a:solidFill>
            <a:srgbClr val="E4E7EA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670048" y="2139696"/>
            <a:ext cx="338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5FA8"/>
                </a:solidFill>
              </a:rPr>
              <a:t>1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3008376" y="2093976"/>
            <a:ext cx="338328" cy="338328"/>
          </a:xfrm>
          <a:prstGeom prst="rect">
            <a:avLst/>
          </a:prstGeom>
          <a:solidFill>
            <a:srgbClr val="E4E7EA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346704" y="2093976"/>
            <a:ext cx="338328" cy="338328"/>
          </a:xfrm>
          <a:prstGeom prst="rect">
            <a:avLst/>
          </a:prstGeom>
          <a:solidFill>
            <a:srgbClr val="E4E7EA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346704" y="2139696"/>
            <a:ext cx="338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5FA8"/>
                </a:solidFill>
              </a:rPr>
              <a:t>1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3685032" y="2093976"/>
            <a:ext cx="338328" cy="338328"/>
          </a:xfrm>
          <a:prstGeom prst="rect">
            <a:avLst/>
          </a:prstGeom>
          <a:solidFill>
            <a:srgbClr val="C7CBD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685032" y="2139696"/>
            <a:ext cx="338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7085"/>
                </a:solidFill>
              </a:rPr>
              <a:t>#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4023360" y="2093976"/>
            <a:ext cx="338328" cy="338328"/>
          </a:xfrm>
          <a:prstGeom prst="rect">
            <a:avLst/>
          </a:prstGeom>
          <a:solidFill>
            <a:srgbClr val="C7CBD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023360" y="2139696"/>
            <a:ext cx="338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7085"/>
                </a:solidFill>
              </a:rPr>
              <a:t>#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640080" y="2432304"/>
            <a:ext cx="338328" cy="338328"/>
          </a:xfrm>
          <a:prstGeom prst="rect">
            <a:avLst/>
          </a:prstGeom>
          <a:solidFill>
            <a:srgbClr val="C7CBD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40080" y="2478024"/>
            <a:ext cx="338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7085"/>
                </a:solidFill>
              </a:rPr>
              <a:t>#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978408" y="2432304"/>
            <a:ext cx="338328" cy="338328"/>
          </a:xfrm>
          <a:prstGeom prst="rect">
            <a:avLst/>
          </a:prstGeom>
          <a:solidFill>
            <a:srgbClr val="E4E7EA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978408" y="2478024"/>
            <a:ext cx="338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7D4A"/>
                </a:solidFill>
              </a:rPr>
              <a:t>2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1316736" y="2432304"/>
            <a:ext cx="338328" cy="338328"/>
          </a:xfrm>
          <a:prstGeom prst="rect">
            <a:avLst/>
          </a:prstGeom>
          <a:solidFill>
            <a:srgbClr val="E4E7EA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316736" y="2478024"/>
            <a:ext cx="338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5FA8"/>
                </a:solidFill>
              </a:rPr>
              <a:t>1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1655064" y="2432304"/>
            <a:ext cx="338328" cy="338328"/>
          </a:xfrm>
          <a:prstGeom prst="rect">
            <a:avLst/>
          </a:prstGeom>
          <a:solidFill>
            <a:srgbClr val="E4E7EA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993392" y="2432304"/>
            <a:ext cx="338328" cy="338328"/>
          </a:xfrm>
          <a:prstGeom prst="rect">
            <a:avLst/>
          </a:prstGeom>
          <a:solidFill>
            <a:srgbClr val="E4E7EA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993392" y="2478024"/>
            <a:ext cx="338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5FA8"/>
                </a:solidFill>
              </a:rPr>
              <a:t>1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2331720" y="2432304"/>
            <a:ext cx="338328" cy="338328"/>
          </a:xfrm>
          <a:prstGeom prst="rect">
            <a:avLst/>
          </a:prstGeom>
          <a:solidFill>
            <a:srgbClr val="C7CBD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331720" y="2478024"/>
            <a:ext cx="338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7085"/>
                </a:solidFill>
              </a:rPr>
              <a:t>#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2670048" y="2432304"/>
            <a:ext cx="338328" cy="338328"/>
          </a:xfrm>
          <a:prstGeom prst="rect">
            <a:avLst/>
          </a:prstGeom>
          <a:solidFill>
            <a:srgbClr val="C7CBD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670048" y="2478024"/>
            <a:ext cx="338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7085"/>
                </a:solidFill>
              </a:rPr>
              <a:t>#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3008376" y="2432304"/>
            <a:ext cx="338328" cy="338328"/>
          </a:xfrm>
          <a:prstGeom prst="rect">
            <a:avLst/>
          </a:prstGeom>
          <a:solidFill>
            <a:srgbClr val="E4E7EA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008376" y="2478024"/>
            <a:ext cx="338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5FA8"/>
                </a:solidFill>
              </a:rPr>
              <a:t>1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3346704" y="2432304"/>
            <a:ext cx="338328" cy="338328"/>
          </a:xfrm>
          <a:prstGeom prst="rect">
            <a:avLst/>
          </a:prstGeom>
          <a:solidFill>
            <a:srgbClr val="E4E7EA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346704" y="2478024"/>
            <a:ext cx="338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7D4A"/>
                </a:solidFill>
              </a:rPr>
              <a:t>2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3685032" y="2432304"/>
            <a:ext cx="338328" cy="338328"/>
          </a:xfrm>
          <a:prstGeom prst="rect">
            <a:avLst/>
          </a:prstGeom>
          <a:solidFill>
            <a:srgbClr val="C7CBD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685032" y="2478024"/>
            <a:ext cx="338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7085"/>
                </a:solidFill>
              </a:rPr>
              <a:t>#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4023360" y="2432304"/>
            <a:ext cx="338328" cy="338328"/>
          </a:xfrm>
          <a:prstGeom prst="rect">
            <a:avLst/>
          </a:prstGeom>
          <a:solidFill>
            <a:srgbClr val="C7CBD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023360" y="2478024"/>
            <a:ext cx="338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7085"/>
                </a:solidFill>
              </a:rPr>
              <a:t>#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640080" y="2770632"/>
            <a:ext cx="338328" cy="338328"/>
          </a:xfrm>
          <a:prstGeom prst="rect">
            <a:avLst/>
          </a:prstGeom>
          <a:solidFill>
            <a:srgbClr val="C7CBD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40080" y="2816352"/>
            <a:ext cx="338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7085"/>
                </a:solidFill>
              </a:rPr>
              <a:t>#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978408" y="2770632"/>
            <a:ext cx="338328" cy="338328"/>
          </a:xfrm>
          <a:prstGeom prst="rect">
            <a:avLst/>
          </a:prstGeom>
          <a:solidFill>
            <a:srgbClr val="C7CBD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978408" y="2816352"/>
            <a:ext cx="338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7085"/>
                </a:solidFill>
              </a:rPr>
              <a:t>#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1316736" y="2770632"/>
            <a:ext cx="338328" cy="338328"/>
          </a:xfrm>
          <a:prstGeom prst="rect">
            <a:avLst/>
          </a:prstGeom>
          <a:solidFill>
            <a:srgbClr val="C7CBD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1316736" y="2816352"/>
            <a:ext cx="338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7085"/>
                </a:solidFill>
              </a:rPr>
              <a:t>#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1655064" y="2770632"/>
            <a:ext cx="338328" cy="338328"/>
          </a:xfrm>
          <a:prstGeom prst="rect">
            <a:avLst/>
          </a:prstGeom>
          <a:solidFill>
            <a:srgbClr val="E4E7EA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1655064" y="2816352"/>
            <a:ext cx="338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5FA8"/>
                </a:solidFill>
              </a:rPr>
              <a:t>1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1993392" y="2770632"/>
            <a:ext cx="338328" cy="338328"/>
          </a:xfrm>
          <a:prstGeom prst="rect">
            <a:avLst/>
          </a:prstGeom>
          <a:solidFill>
            <a:srgbClr val="E4E7EA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1993392" y="2816352"/>
            <a:ext cx="338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7D4A"/>
                </a:solidFill>
              </a:rPr>
              <a:t>2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2331720" y="2770632"/>
            <a:ext cx="338328" cy="338328"/>
          </a:xfrm>
          <a:prstGeom prst="rect">
            <a:avLst/>
          </a:prstGeom>
          <a:solidFill>
            <a:srgbClr val="E4E7EA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2331720" y="2816352"/>
            <a:ext cx="338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7D4A"/>
                </a:solidFill>
              </a:rPr>
              <a:t>2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2670048" y="2770632"/>
            <a:ext cx="338328" cy="338328"/>
          </a:xfrm>
          <a:prstGeom prst="rect">
            <a:avLst/>
          </a:prstGeom>
          <a:solidFill>
            <a:srgbClr val="E4E7EA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2670048" y="2816352"/>
            <a:ext cx="338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5FA8"/>
                </a:solidFill>
              </a:rPr>
              <a:t>1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3008376" y="2770632"/>
            <a:ext cx="338328" cy="338328"/>
          </a:xfrm>
          <a:prstGeom prst="rect">
            <a:avLst/>
          </a:prstGeom>
          <a:solidFill>
            <a:srgbClr val="E4E7EA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3008376" y="2816352"/>
            <a:ext cx="338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5FA8"/>
                </a:solidFill>
              </a:rPr>
              <a:t>1</a:t>
            </a:r>
            <a:endParaRPr lang="en-US" sz="900" dirty="0"/>
          </a:p>
        </p:txBody>
      </p:sp>
      <p:sp>
        <p:nvSpPr>
          <p:cNvPr id="105" name="Shape 103"/>
          <p:cNvSpPr/>
          <p:nvPr/>
        </p:nvSpPr>
        <p:spPr>
          <a:xfrm>
            <a:off x="3346704" y="2770632"/>
            <a:ext cx="338328" cy="338328"/>
          </a:xfrm>
          <a:prstGeom prst="rect">
            <a:avLst/>
          </a:prstGeom>
          <a:solidFill>
            <a:srgbClr val="C7CBD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3346704" y="2816352"/>
            <a:ext cx="338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7085"/>
                </a:solidFill>
              </a:rPr>
              <a:t>#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3685032" y="2770632"/>
            <a:ext cx="338328" cy="338328"/>
          </a:xfrm>
          <a:prstGeom prst="rect">
            <a:avLst/>
          </a:prstGeom>
          <a:solidFill>
            <a:srgbClr val="C7CBD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3685032" y="2816352"/>
            <a:ext cx="338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7085"/>
                </a:solidFill>
              </a:rPr>
              <a:t>#</a:t>
            </a:r>
            <a:endParaRPr lang="en-US" sz="900" dirty="0"/>
          </a:p>
        </p:txBody>
      </p:sp>
      <p:sp>
        <p:nvSpPr>
          <p:cNvPr id="109" name="Shape 107"/>
          <p:cNvSpPr/>
          <p:nvPr/>
        </p:nvSpPr>
        <p:spPr>
          <a:xfrm>
            <a:off x="4023360" y="2770632"/>
            <a:ext cx="338328" cy="338328"/>
          </a:xfrm>
          <a:prstGeom prst="rect">
            <a:avLst/>
          </a:prstGeom>
          <a:solidFill>
            <a:srgbClr val="C7CBD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4023360" y="2816352"/>
            <a:ext cx="338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7085"/>
                </a:solidFill>
              </a:rPr>
              <a:t>#</a:t>
            </a:r>
            <a:endParaRPr lang="en-US" sz="900" dirty="0"/>
          </a:p>
        </p:txBody>
      </p:sp>
      <p:sp>
        <p:nvSpPr>
          <p:cNvPr id="111" name="Shape 109"/>
          <p:cNvSpPr/>
          <p:nvPr/>
        </p:nvSpPr>
        <p:spPr>
          <a:xfrm>
            <a:off x="640080" y="3108960"/>
            <a:ext cx="338328" cy="338328"/>
          </a:xfrm>
          <a:prstGeom prst="rect">
            <a:avLst/>
          </a:prstGeom>
          <a:solidFill>
            <a:srgbClr val="C7CBD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640080" y="3154680"/>
            <a:ext cx="338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7085"/>
                </a:solidFill>
              </a:rPr>
              <a:t>#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978408" y="3108960"/>
            <a:ext cx="338328" cy="338328"/>
          </a:xfrm>
          <a:prstGeom prst="rect">
            <a:avLst/>
          </a:prstGeom>
          <a:solidFill>
            <a:srgbClr val="C7CBD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978408" y="3154680"/>
            <a:ext cx="338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7085"/>
                </a:solidFill>
              </a:rPr>
              <a:t>#</a:t>
            </a:r>
            <a:endParaRPr lang="en-US" sz="900" dirty="0"/>
          </a:p>
        </p:txBody>
      </p:sp>
      <p:sp>
        <p:nvSpPr>
          <p:cNvPr id="115" name="Shape 113"/>
          <p:cNvSpPr/>
          <p:nvPr/>
        </p:nvSpPr>
        <p:spPr>
          <a:xfrm>
            <a:off x="1316736" y="3108960"/>
            <a:ext cx="338328" cy="338328"/>
          </a:xfrm>
          <a:prstGeom prst="rect">
            <a:avLst/>
          </a:prstGeom>
          <a:solidFill>
            <a:srgbClr val="C7CBD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1316736" y="3154680"/>
            <a:ext cx="338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7085"/>
                </a:solidFill>
              </a:rPr>
              <a:t>#</a:t>
            </a:r>
            <a:endParaRPr lang="en-US" sz="900" dirty="0"/>
          </a:p>
        </p:txBody>
      </p:sp>
      <p:sp>
        <p:nvSpPr>
          <p:cNvPr id="117" name="Shape 115"/>
          <p:cNvSpPr/>
          <p:nvPr/>
        </p:nvSpPr>
        <p:spPr>
          <a:xfrm>
            <a:off x="1655064" y="3108960"/>
            <a:ext cx="338328" cy="338328"/>
          </a:xfrm>
          <a:prstGeom prst="rect">
            <a:avLst/>
          </a:prstGeom>
          <a:solidFill>
            <a:srgbClr val="C7CBD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1655064" y="3154680"/>
            <a:ext cx="338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7085"/>
                </a:solidFill>
              </a:rPr>
              <a:t>#</a:t>
            </a:r>
            <a:endParaRPr lang="en-US" sz="900" dirty="0"/>
          </a:p>
        </p:txBody>
      </p:sp>
      <p:sp>
        <p:nvSpPr>
          <p:cNvPr id="119" name="Shape 117"/>
          <p:cNvSpPr/>
          <p:nvPr/>
        </p:nvSpPr>
        <p:spPr>
          <a:xfrm>
            <a:off x="1993392" y="3108960"/>
            <a:ext cx="338328" cy="338328"/>
          </a:xfrm>
          <a:prstGeom prst="rect">
            <a:avLst/>
          </a:prstGeom>
          <a:solidFill>
            <a:srgbClr val="E4E7EA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1993392" y="3154680"/>
            <a:ext cx="338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5FA8"/>
                </a:solidFill>
              </a:rPr>
              <a:t>1</a:t>
            </a:r>
            <a:endParaRPr lang="en-US" sz="900" dirty="0"/>
          </a:p>
        </p:txBody>
      </p:sp>
      <p:sp>
        <p:nvSpPr>
          <p:cNvPr id="121" name="Shape 119"/>
          <p:cNvSpPr/>
          <p:nvPr/>
        </p:nvSpPr>
        <p:spPr>
          <a:xfrm>
            <a:off x="2331720" y="3108960"/>
            <a:ext cx="338328" cy="338328"/>
          </a:xfrm>
          <a:prstGeom prst="rect">
            <a:avLst/>
          </a:prstGeom>
          <a:solidFill>
            <a:srgbClr val="E4E7EA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2670048" y="3108960"/>
            <a:ext cx="338328" cy="338328"/>
          </a:xfrm>
          <a:prstGeom prst="rect">
            <a:avLst/>
          </a:prstGeom>
          <a:solidFill>
            <a:srgbClr val="E4E7EA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2670048" y="3154680"/>
            <a:ext cx="338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5FA8"/>
                </a:solidFill>
              </a:rPr>
              <a:t>1</a:t>
            </a:r>
            <a:endParaRPr lang="en-US" sz="900" dirty="0"/>
          </a:p>
        </p:txBody>
      </p:sp>
      <p:sp>
        <p:nvSpPr>
          <p:cNvPr id="124" name="Shape 122"/>
          <p:cNvSpPr/>
          <p:nvPr/>
        </p:nvSpPr>
        <p:spPr>
          <a:xfrm>
            <a:off x="3008376" y="3108960"/>
            <a:ext cx="338328" cy="338328"/>
          </a:xfrm>
          <a:prstGeom prst="rect">
            <a:avLst/>
          </a:prstGeom>
          <a:solidFill>
            <a:srgbClr val="E4E7EA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3008376" y="3154680"/>
            <a:ext cx="338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7D4A"/>
                </a:solidFill>
              </a:rPr>
              <a:t>2</a:t>
            </a:r>
            <a:endParaRPr lang="en-US" sz="900" dirty="0"/>
          </a:p>
        </p:txBody>
      </p:sp>
      <p:sp>
        <p:nvSpPr>
          <p:cNvPr id="126" name="Shape 124"/>
          <p:cNvSpPr/>
          <p:nvPr/>
        </p:nvSpPr>
        <p:spPr>
          <a:xfrm>
            <a:off x="3346704" y="3108960"/>
            <a:ext cx="338328" cy="338328"/>
          </a:xfrm>
          <a:prstGeom prst="rect">
            <a:avLst/>
          </a:prstGeom>
          <a:solidFill>
            <a:srgbClr val="C7CBD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3346704" y="3154680"/>
            <a:ext cx="338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7085"/>
                </a:solidFill>
              </a:rPr>
              <a:t>#</a:t>
            </a:r>
            <a:endParaRPr lang="en-US" sz="900" dirty="0"/>
          </a:p>
        </p:txBody>
      </p:sp>
      <p:sp>
        <p:nvSpPr>
          <p:cNvPr id="128" name="Shape 126"/>
          <p:cNvSpPr/>
          <p:nvPr/>
        </p:nvSpPr>
        <p:spPr>
          <a:xfrm>
            <a:off x="3685032" y="3108960"/>
            <a:ext cx="338328" cy="338328"/>
          </a:xfrm>
          <a:prstGeom prst="rect">
            <a:avLst/>
          </a:prstGeom>
          <a:solidFill>
            <a:srgbClr val="C7CBD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3685032" y="3154680"/>
            <a:ext cx="338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7085"/>
                </a:solidFill>
              </a:rPr>
              <a:t>#</a:t>
            </a:r>
            <a:endParaRPr lang="en-US" sz="900" dirty="0"/>
          </a:p>
        </p:txBody>
      </p:sp>
      <p:sp>
        <p:nvSpPr>
          <p:cNvPr id="130" name="Shape 128"/>
          <p:cNvSpPr/>
          <p:nvPr/>
        </p:nvSpPr>
        <p:spPr>
          <a:xfrm>
            <a:off x="4023360" y="3108960"/>
            <a:ext cx="338328" cy="338328"/>
          </a:xfrm>
          <a:prstGeom prst="rect">
            <a:avLst/>
          </a:prstGeom>
          <a:solidFill>
            <a:srgbClr val="C7CBD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4023360" y="3154680"/>
            <a:ext cx="338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7085"/>
                </a:solidFill>
              </a:rPr>
              <a:t>#</a:t>
            </a:r>
            <a:endParaRPr lang="en-US" sz="900" dirty="0"/>
          </a:p>
        </p:txBody>
      </p:sp>
      <p:sp>
        <p:nvSpPr>
          <p:cNvPr id="132" name="Shape 130"/>
          <p:cNvSpPr/>
          <p:nvPr/>
        </p:nvSpPr>
        <p:spPr>
          <a:xfrm>
            <a:off x="640080" y="3447288"/>
            <a:ext cx="338328" cy="338328"/>
          </a:xfrm>
          <a:prstGeom prst="rect">
            <a:avLst/>
          </a:prstGeom>
          <a:solidFill>
            <a:srgbClr val="C7CBD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640080" y="3493008"/>
            <a:ext cx="338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7085"/>
                </a:solidFill>
              </a:rPr>
              <a:t>#</a:t>
            </a:r>
            <a:endParaRPr lang="en-US" sz="900" dirty="0"/>
          </a:p>
        </p:txBody>
      </p:sp>
      <p:sp>
        <p:nvSpPr>
          <p:cNvPr id="134" name="Shape 132"/>
          <p:cNvSpPr/>
          <p:nvPr/>
        </p:nvSpPr>
        <p:spPr>
          <a:xfrm>
            <a:off x="978408" y="3447288"/>
            <a:ext cx="338328" cy="338328"/>
          </a:xfrm>
          <a:prstGeom prst="rect">
            <a:avLst/>
          </a:prstGeom>
          <a:solidFill>
            <a:srgbClr val="C7CBD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978408" y="3493008"/>
            <a:ext cx="338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7085"/>
                </a:solidFill>
              </a:rPr>
              <a:t>#</a:t>
            </a:r>
            <a:endParaRPr lang="en-US" sz="900" dirty="0"/>
          </a:p>
        </p:txBody>
      </p:sp>
      <p:sp>
        <p:nvSpPr>
          <p:cNvPr id="136" name="Shape 134"/>
          <p:cNvSpPr/>
          <p:nvPr/>
        </p:nvSpPr>
        <p:spPr>
          <a:xfrm>
            <a:off x="1316736" y="3447288"/>
            <a:ext cx="338328" cy="338328"/>
          </a:xfrm>
          <a:prstGeom prst="rect">
            <a:avLst/>
          </a:prstGeom>
          <a:solidFill>
            <a:srgbClr val="E4E7EA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1316736" y="3493008"/>
            <a:ext cx="338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5FA8"/>
                </a:solidFill>
              </a:rPr>
              <a:t>1</a:t>
            </a:r>
            <a:endParaRPr lang="en-US" sz="900" dirty="0"/>
          </a:p>
        </p:txBody>
      </p:sp>
      <p:sp>
        <p:nvSpPr>
          <p:cNvPr id="138" name="Shape 136"/>
          <p:cNvSpPr/>
          <p:nvPr/>
        </p:nvSpPr>
        <p:spPr>
          <a:xfrm>
            <a:off x="1655064" y="3447288"/>
            <a:ext cx="338328" cy="338328"/>
          </a:xfrm>
          <a:prstGeom prst="rect">
            <a:avLst/>
          </a:prstGeom>
          <a:solidFill>
            <a:srgbClr val="E4E7EA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1993392" y="3447288"/>
            <a:ext cx="338328" cy="338328"/>
          </a:xfrm>
          <a:prstGeom prst="rect">
            <a:avLst/>
          </a:prstGeom>
          <a:solidFill>
            <a:srgbClr val="E4E7EA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1993392" y="3493008"/>
            <a:ext cx="338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5FA8"/>
                </a:solidFill>
              </a:rPr>
              <a:t>1</a:t>
            </a:r>
            <a:endParaRPr lang="en-US" sz="900" dirty="0"/>
          </a:p>
        </p:txBody>
      </p:sp>
      <p:sp>
        <p:nvSpPr>
          <p:cNvPr id="141" name="Shape 139"/>
          <p:cNvSpPr/>
          <p:nvPr/>
        </p:nvSpPr>
        <p:spPr>
          <a:xfrm>
            <a:off x="2331720" y="3447288"/>
            <a:ext cx="338328" cy="338328"/>
          </a:xfrm>
          <a:prstGeom prst="rect">
            <a:avLst/>
          </a:prstGeom>
          <a:solidFill>
            <a:srgbClr val="E4E7EA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2331720" y="3493008"/>
            <a:ext cx="338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5FA8"/>
                </a:solidFill>
              </a:rPr>
              <a:t>1</a:t>
            </a:r>
            <a:endParaRPr lang="en-US" sz="900" dirty="0"/>
          </a:p>
        </p:txBody>
      </p:sp>
      <p:sp>
        <p:nvSpPr>
          <p:cNvPr id="143" name="Shape 141"/>
          <p:cNvSpPr/>
          <p:nvPr/>
        </p:nvSpPr>
        <p:spPr>
          <a:xfrm>
            <a:off x="2670048" y="3447288"/>
            <a:ext cx="338328" cy="338328"/>
          </a:xfrm>
          <a:prstGeom prst="rect">
            <a:avLst/>
          </a:prstGeom>
          <a:solidFill>
            <a:srgbClr val="C7CBD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2670048" y="3493008"/>
            <a:ext cx="338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7085"/>
                </a:solidFill>
              </a:rPr>
              <a:t>#</a:t>
            </a:r>
            <a:endParaRPr lang="en-US" sz="900" dirty="0"/>
          </a:p>
        </p:txBody>
      </p:sp>
      <p:sp>
        <p:nvSpPr>
          <p:cNvPr id="145" name="Shape 143"/>
          <p:cNvSpPr/>
          <p:nvPr/>
        </p:nvSpPr>
        <p:spPr>
          <a:xfrm>
            <a:off x="3008376" y="3447288"/>
            <a:ext cx="338328" cy="338328"/>
          </a:xfrm>
          <a:prstGeom prst="rect">
            <a:avLst/>
          </a:prstGeom>
          <a:solidFill>
            <a:srgbClr val="C7CBD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3008376" y="3493008"/>
            <a:ext cx="338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7085"/>
                </a:solidFill>
              </a:rPr>
              <a:t>#</a:t>
            </a:r>
            <a:endParaRPr lang="en-US" sz="900" dirty="0"/>
          </a:p>
        </p:txBody>
      </p:sp>
      <p:sp>
        <p:nvSpPr>
          <p:cNvPr id="147" name="Shape 145"/>
          <p:cNvSpPr/>
          <p:nvPr/>
        </p:nvSpPr>
        <p:spPr>
          <a:xfrm>
            <a:off x="3346704" y="3447288"/>
            <a:ext cx="338328" cy="338328"/>
          </a:xfrm>
          <a:prstGeom prst="rect">
            <a:avLst/>
          </a:prstGeom>
          <a:solidFill>
            <a:srgbClr val="C7CBD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3346704" y="3493008"/>
            <a:ext cx="338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7085"/>
                </a:solidFill>
              </a:rPr>
              <a:t>#</a:t>
            </a:r>
            <a:endParaRPr lang="en-US" sz="900" dirty="0"/>
          </a:p>
        </p:txBody>
      </p:sp>
      <p:sp>
        <p:nvSpPr>
          <p:cNvPr id="149" name="Shape 147"/>
          <p:cNvSpPr/>
          <p:nvPr/>
        </p:nvSpPr>
        <p:spPr>
          <a:xfrm>
            <a:off x="3685032" y="3447288"/>
            <a:ext cx="338328" cy="338328"/>
          </a:xfrm>
          <a:prstGeom prst="rect">
            <a:avLst/>
          </a:prstGeom>
          <a:solidFill>
            <a:srgbClr val="C7CBD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3685032" y="3493008"/>
            <a:ext cx="338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7085"/>
                </a:solidFill>
              </a:rPr>
              <a:t>#</a:t>
            </a:r>
            <a:endParaRPr lang="en-US" sz="900" dirty="0"/>
          </a:p>
        </p:txBody>
      </p:sp>
      <p:sp>
        <p:nvSpPr>
          <p:cNvPr id="151" name="Shape 149"/>
          <p:cNvSpPr/>
          <p:nvPr/>
        </p:nvSpPr>
        <p:spPr>
          <a:xfrm>
            <a:off x="4023360" y="3447288"/>
            <a:ext cx="338328" cy="338328"/>
          </a:xfrm>
          <a:prstGeom prst="rect">
            <a:avLst/>
          </a:prstGeom>
          <a:solidFill>
            <a:srgbClr val="C7CBD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4023360" y="3493008"/>
            <a:ext cx="338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7085"/>
                </a:solidFill>
              </a:rPr>
              <a:t>#</a:t>
            </a:r>
            <a:endParaRPr lang="en-US" sz="900" dirty="0"/>
          </a:p>
        </p:txBody>
      </p:sp>
      <p:sp>
        <p:nvSpPr>
          <p:cNvPr id="153" name="Shape 151"/>
          <p:cNvSpPr/>
          <p:nvPr/>
        </p:nvSpPr>
        <p:spPr>
          <a:xfrm>
            <a:off x="640080" y="3785616"/>
            <a:ext cx="338328" cy="338328"/>
          </a:xfrm>
          <a:prstGeom prst="rect">
            <a:avLst/>
          </a:prstGeom>
          <a:solidFill>
            <a:srgbClr val="C7CBD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640080" y="3831336"/>
            <a:ext cx="338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7085"/>
                </a:solidFill>
              </a:rPr>
              <a:t>#</a:t>
            </a:r>
            <a:endParaRPr lang="en-US" sz="900" dirty="0"/>
          </a:p>
        </p:txBody>
      </p:sp>
      <p:sp>
        <p:nvSpPr>
          <p:cNvPr id="155" name="Shape 153"/>
          <p:cNvSpPr/>
          <p:nvPr/>
        </p:nvSpPr>
        <p:spPr>
          <a:xfrm>
            <a:off x="978408" y="3785616"/>
            <a:ext cx="338328" cy="338328"/>
          </a:xfrm>
          <a:prstGeom prst="rect">
            <a:avLst/>
          </a:prstGeom>
          <a:solidFill>
            <a:srgbClr val="C7CBD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978408" y="3831336"/>
            <a:ext cx="338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7085"/>
                </a:solidFill>
              </a:rPr>
              <a:t>#</a:t>
            </a:r>
            <a:endParaRPr lang="en-US" sz="900" dirty="0"/>
          </a:p>
        </p:txBody>
      </p:sp>
      <p:sp>
        <p:nvSpPr>
          <p:cNvPr id="157" name="Shape 155"/>
          <p:cNvSpPr/>
          <p:nvPr/>
        </p:nvSpPr>
        <p:spPr>
          <a:xfrm>
            <a:off x="1316736" y="3785616"/>
            <a:ext cx="338328" cy="338328"/>
          </a:xfrm>
          <a:prstGeom prst="rect">
            <a:avLst/>
          </a:prstGeom>
          <a:solidFill>
            <a:srgbClr val="C7CBD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1316736" y="3831336"/>
            <a:ext cx="338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7085"/>
                </a:solidFill>
              </a:rPr>
              <a:t>#</a:t>
            </a:r>
            <a:endParaRPr lang="en-US" sz="900" dirty="0"/>
          </a:p>
        </p:txBody>
      </p:sp>
      <p:sp>
        <p:nvSpPr>
          <p:cNvPr id="159" name="Shape 157"/>
          <p:cNvSpPr/>
          <p:nvPr/>
        </p:nvSpPr>
        <p:spPr>
          <a:xfrm>
            <a:off x="1655064" y="3785616"/>
            <a:ext cx="338328" cy="338328"/>
          </a:xfrm>
          <a:prstGeom prst="rect">
            <a:avLst/>
          </a:prstGeom>
          <a:solidFill>
            <a:srgbClr val="E4E7EA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1655064" y="3831336"/>
            <a:ext cx="338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5FA8"/>
                </a:solidFill>
              </a:rPr>
              <a:t>1</a:t>
            </a:r>
            <a:endParaRPr lang="en-US" sz="900" dirty="0"/>
          </a:p>
        </p:txBody>
      </p:sp>
      <p:sp>
        <p:nvSpPr>
          <p:cNvPr id="161" name="Shape 159"/>
          <p:cNvSpPr/>
          <p:nvPr/>
        </p:nvSpPr>
        <p:spPr>
          <a:xfrm>
            <a:off x="1993392" y="3785616"/>
            <a:ext cx="338328" cy="338328"/>
          </a:xfrm>
          <a:prstGeom prst="rect">
            <a:avLst/>
          </a:prstGeom>
          <a:solidFill>
            <a:srgbClr val="E4E7EA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2331720" y="3785616"/>
            <a:ext cx="338328" cy="338328"/>
          </a:xfrm>
          <a:prstGeom prst="rect">
            <a:avLst/>
          </a:prstGeom>
          <a:solidFill>
            <a:srgbClr val="E4E7EA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63" name="Text 161"/>
          <p:cNvSpPr/>
          <p:nvPr/>
        </p:nvSpPr>
        <p:spPr>
          <a:xfrm>
            <a:off x="2331720" y="3831336"/>
            <a:ext cx="338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5FA8"/>
                </a:solidFill>
              </a:rPr>
              <a:t>1</a:t>
            </a:r>
            <a:endParaRPr lang="en-US" sz="900" dirty="0"/>
          </a:p>
        </p:txBody>
      </p:sp>
      <p:sp>
        <p:nvSpPr>
          <p:cNvPr id="164" name="Shape 162"/>
          <p:cNvSpPr/>
          <p:nvPr/>
        </p:nvSpPr>
        <p:spPr>
          <a:xfrm>
            <a:off x="2670048" y="3785616"/>
            <a:ext cx="338328" cy="338328"/>
          </a:xfrm>
          <a:prstGeom prst="rect">
            <a:avLst/>
          </a:prstGeom>
          <a:solidFill>
            <a:srgbClr val="E4E7EA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2670048" y="3831336"/>
            <a:ext cx="338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5FA8"/>
                </a:solidFill>
              </a:rPr>
              <a:t>1</a:t>
            </a:r>
            <a:endParaRPr lang="en-US" sz="900" dirty="0"/>
          </a:p>
        </p:txBody>
      </p:sp>
      <p:sp>
        <p:nvSpPr>
          <p:cNvPr id="166" name="Shape 164"/>
          <p:cNvSpPr/>
          <p:nvPr/>
        </p:nvSpPr>
        <p:spPr>
          <a:xfrm>
            <a:off x="3008376" y="3785616"/>
            <a:ext cx="338328" cy="338328"/>
          </a:xfrm>
          <a:prstGeom prst="rect">
            <a:avLst/>
          </a:prstGeom>
          <a:solidFill>
            <a:srgbClr val="C7CBD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3008376" y="3831336"/>
            <a:ext cx="338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7085"/>
                </a:solidFill>
              </a:rPr>
              <a:t>#</a:t>
            </a:r>
            <a:endParaRPr lang="en-US" sz="900" dirty="0"/>
          </a:p>
        </p:txBody>
      </p:sp>
      <p:sp>
        <p:nvSpPr>
          <p:cNvPr id="168" name="Shape 166"/>
          <p:cNvSpPr/>
          <p:nvPr/>
        </p:nvSpPr>
        <p:spPr>
          <a:xfrm>
            <a:off x="3346704" y="3785616"/>
            <a:ext cx="338328" cy="338328"/>
          </a:xfrm>
          <a:prstGeom prst="rect">
            <a:avLst/>
          </a:prstGeom>
          <a:solidFill>
            <a:srgbClr val="C7CBD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69" name="Text 167"/>
          <p:cNvSpPr/>
          <p:nvPr/>
        </p:nvSpPr>
        <p:spPr>
          <a:xfrm>
            <a:off x="3346704" y="3831336"/>
            <a:ext cx="338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7085"/>
                </a:solidFill>
              </a:rPr>
              <a:t>#</a:t>
            </a:r>
            <a:endParaRPr lang="en-US" sz="900" dirty="0"/>
          </a:p>
        </p:txBody>
      </p:sp>
      <p:sp>
        <p:nvSpPr>
          <p:cNvPr id="170" name="Shape 168"/>
          <p:cNvSpPr/>
          <p:nvPr/>
        </p:nvSpPr>
        <p:spPr>
          <a:xfrm>
            <a:off x="3685032" y="3785616"/>
            <a:ext cx="338328" cy="338328"/>
          </a:xfrm>
          <a:prstGeom prst="rect">
            <a:avLst/>
          </a:prstGeom>
          <a:solidFill>
            <a:srgbClr val="C7CBD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3685032" y="3831336"/>
            <a:ext cx="338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7085"/>
                </a:solidFill>
              </a:rPr>
              <a:t>#</a:t>
            </a:r>
            <a:endParaRPr lang="en-US" sz="900" dirty="0"/>
          </a:p>
        </p:txBody>
      </p:sp>
      <p:sp>
        <p:nvSpPr>
          <p:cNvPr id="172" name="Shape 170"/>
          <p:cNvSpPr/>
          <p:nvPr/>
        </p:nvSpPr>
        <p:spPr>
          <a:xfrm>
            <a:off x="4023360" y="3785616"/>
            <a:ext cx="338328" cy="338328"/>
          </a:xfrm>
          <a:prstGeom prst="rect">
            <a:avLst/>
          </a:prstGeom>
          <a:solidFill>
            <a:srgbClr val="C7CBD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4023360" y="3831336"/>
            <a:ext cx="338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7085"/>
                </a:solidFill>
              </a:rPr>
              <a:t>#</a:t>
            </a:r>
            <a:endParaRPr lang="en-US" sz="900" dirty="0"/>
          </a:p>
        </p:txBody>
      </p:sp>
      <p:sp>
        <p:nvSpPr>
          <p:cNvPr id="174" name="Shape 172"/>
          <p:cNvSpPr/>
          <p:nvPr/>
        </p:nvSpPr>
        <p:spPr>
          <a:xfrm>
            <a:off x="640080" y="4123944"/>
            <a:ext cx="338328" cy="338328"/>
          </a:xfrm>
          <a:prstGeom prst="rect">
            <a:avLst/>
          </a:prstGeom>
          <a:solidFill>
            <a:srgbClr val="C7CBD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640080" y="4169664"/>
            <a:ext cx="338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7085"/>
                </a:solidFill>
              </a:rPr>
              <a:t>#</a:t>
            </a:r>
            <a:endParaRPr lang="en-US" sz="900" dirty="0"/>
          </a:p>
        </p:txBody>
      </p:sp>
      <p:sp>
        <p:nvSpPr>
          <p:cNvPr id="176" name="Shape 174"/>
          <p:cNvSpPr/>
          <p:nvPr/>
        </p:nvSpPr>
        <p:spPr>
          <a:xfrm>
            <a:off x="978408" y="4123944"/>
            <a:ext cx="338328" cy="338328"/>
          </a:xfrm>
          <a:prstGeom prst="rect">
            <a:avLst/>
          </a:prstGeom>
          <a:solidFill>
            <a:srgbClr val="C7CBD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77" name="Text 175"/>
          <p:cNvSpPr/>
          <p:nvPr/>
        </p:nvSpPr>
        <p:spPr>
          <a:xfrm>
            <a:off x="978408" y="4169664"/>
            <a:ext cx="338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7085"/>
                </a:solidFill>
              </a:rPr>
              <a:t>#</a:t>
            </a:r>
            <a:endParaRPr lang="en-US" sz="900" dirty="0"/>
          </a:p>
        </p:txBody>
      </p:sp>
      <p:sp>
        <p:nvSpPr>
          <p:cNvPr id="178" name="Shape 176"/>
          <p:cNvSpPr/>
          <p:nvPr/>
        </p:nvSpPr>
        <p:spPr>
          <a:xfrm>
            <a:off x="1316736" y="4123944"/>
            <a:ext cx="338328" cy="338328"/>
          </a:xfrm>
          <a:prstGeom prst="rect">
            <a:avLst/>
          </a:prstGeom>
          <a:solidFill>
            <a:srgbClr val="C7CBD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79" name="Text 177"/>
          <p:cNvSpPr/>
          <p:nvPr/>
        </p:nvSpPr>
        <p:spPr>
          <a:xfrm>
            <a:off x="1316736" y="4169664"/>
            <a:ext cx="338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7085"/>
                </a:solidFill>
              </a:rPr>
              <a:t>#</a:t>
            </a:r>
            <a:endParaRPr lang="en-US" sz="900" dirty="0"/>
          </a:p>
        </p:txBody>
      </p:sp>
      <p:sp>
        <p:nvSpPr>
          <p:cNvPr id="180" name="Shape 178"/>
          <p:cNvSpPr/>
          <p:nvPr/>
        </p:nvSpPr>
        <p:spPr>
          <a:xfrm>
            <a:off x="1655064" y="4123944"/>
            <a:ext cx="338328" cy="338328"/>
          </a:xfrm>
          <a:prstGeom prst="rect">
            <a:avLst/>
          </a:prstGeom>
          <a:solidFill>
            <a:srgbClr val="C7CBD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81" name="Text 179"/>
          <p:cNvSpPr/>
          <p:nvPr/>
        </p:nvSpPr>
        <p:spPr>
          <a:xfrm>
            <a:off x="1655064" y="4169664"/>
            <a:ext cx="338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7085"/>
                </a:solidFill>
              </a:rPr>
              <a:t>#</a:t>
            </a:r>
            <a:endParaRPr lang="en-US" sz="900" dirty="0"/>
          </a:p>
        </p:txBody>
      </p:sp>
      <p:sp>
        <p:nvSpPr>
          <p:cNvPr id="182" name="Shape 180"/>
          <p:cNvSpPr/>
          <p:nvPr/>
        </p:nvSpPr>
        <p:spPr>
          <a:xfrm>
            <a:off x="1993392" y="4123944"/>
            <a:ext cx="338328" cy="338328"/>
          </a:xfrm>
          <a:prstGeom prst="rect">
            <a:avLst/>
          </a:prstGeom>
          <a:solidFill>
            <a:srgbClr val="E4E7EA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1993392" y="4169664"/>
            <a:ext cx="338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5FA8"/>
                </a:solidFill>
              </a:rPr>
              <a:t>1</a:t>
            </a:r>
            <a:endParaRPr lang="en-US" sz="900" dirty="0"/>
          </a:p>
        </p:txBody>
      </p:sp>
      <p:sp>
        <p:nvSpPr>
          <p:cNvPr id="184" name="Shape 182"/>
          <p:cNvSpPr/>
          <p:nvPr/>
        </p:nvSpPr>
        <p:spPr>
          <a:xfrm>
            <a:off x="2331720" y="4123944"/>
            <a:ext cx="338328" cy="338328"/>
          </a:xfrm>
          <a:prstGeom prst="rect">
            <a:avLst/>
          </a:prstGeom>
          <a:solidFill>
            <a:srgbClr val="C7CBD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85" name="Text 183"/>
          <p:cNvSpPr/>
          <p:nvPr/>
        </p:nvSpPr>
        <p:spPr>
          <a:xfrm>
            <a:off x="2331720" y="4169664"/>
            <a:ext cx="338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7085"/>
                </a:solidFill>
              </a:rPr>
              <a:t>#</a:t>
            </a:r>
            <a:endParaRPr lang="en-US" sz="900" dirty="0"/>
          </a:p>
        </p:txBody>
      </p:sp>
      <p:sp>
        <p:nvSpPr>
          <p:cNvPr id="186" name="Shape 184"/>
          <p:cNvSpPr/>
          <p:nvPr/>
        </p:nvSpPr>
        <p:spPr>
          <a:xfrm>
            <a:off x="2670048" y="4123944"/>
            <a:ext cx="338328" cy="338328"/>
          </a:xfrm>
          <a:prstGeom prst="rect">
            <a:avLst/>
          </a:prstGeom>
          <a:solidFill>
            <a:srgbClr val="E4E7EA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87" name="Text 185"/>
          <p:cNvSpPr/>
          <p:nvPr/>
        </p:nvSpPr>
        <p:spPr>
          <a:xfrm>
            <a:off x="2670048" y="4169664"/>
            <a:ext cx="338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7D4A"/>
                </a:solidFill>
              </a:rPr>
              <a:t>2</a:t>
            </a:r>
            <a:endParaRPr lang="en-US" sz="900" dirty="0"/>
          </a:p>
        </p:txBody>
      </p:sp>
      <p:sp>
        <p:nvSpPr>
          <p:cNvPr id="188" name="Shape 186"/>
          <p:cNvSpPr/>
          <p:nvPr/>
        </p:nvSpPr>
        <p:spPr>
          <a:xfrm>
            <a:off x="3008376" y="4123944"/>
            <a:ext cx="338328" cy="338328"/>
          </a:xfrm>
          <a:prstGeom prst="rect">
            <a:avLst/>
          </a:prstGeom>
          <a:solidFill>
            <a:srgbClr val="C7CBD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89" name="Text 187"/>
          <p:cNvSpPr/>
          <p:nvPr/>
        </p:nvSpPr>
        <p:spPr>
          <a:xfrm>
            <a:off x="3008376" y="4169664"/>
            <a:ext cx="338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7085"/>
                </a:solidFill>
              </a:rPr>
              <a:t>#</a:t>
            </a:r>
            <a:endParaRPr lang="en-US" sz="900" dirty="0"/>
          </a:p>
        </p:txBody>
      </p:sp>
      <p:sp>
        <p:nvSpPr>
          <p:cNvPr id="190" name="Shape 188"/>
          <p:cNvSpPr/>
          <p:nvPr/>
        </p:nvSpPr>
        <p:spPr>
          <a:xfrm>
            <a:off x="3346704" y="4123944"/>
            <a:ext cx="338328" cy="338328"/>
          </a:xfrm>
          <a:prstGeom prst="rect">
            <a:avLst/>
          </a:prstGeom>
          <a:solidFill>
            <a:srgbClr val="C7CBD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91" name="Text 189"/>
          <p:cNvSpPr/>
          <p:nvPr/>
        </p:nvSpPr>
        <p:spPr>
          <a:xfrm>
            <a:off x="3346704" y="4169664"/>
            <a:ext cx="338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7085"/>
                </a:solidFill>
              </a:rPr>
              <a:t>#</a:t>
            </a:r>
            <a:endParaRPr lang="en-US" sz="900" dirty="0"/>
          </a:p>
        </p:txBody>
      </p:sp>
      <p:sp>
        <p:nvSpPr>
          <p:cNvPr id="192" name="Shape 190"/>
          <p:cNvSpPr/>
          <p:nvPr/>
        </p:nvSpPr>
        <p:spPr>
          <a:xfrm>
            <a:off x="3685032" y="4123944"/>
            <a:ext cx="338328" cy="338328"/>
          </a:xfrm>
          <a:prstGeom prst="rect">
            <a:avLst/>
          </a:prstGeom>
          <a:solidFill>
            <a:srgbClr val="C7CBD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93" name="Text 191"/>
          <p:cNvSpPr/>
          <p:nvPr/>
        </p:nvSpPr>
        <p:spPr>
          <a:xfrm>
            <a:off x="3685032" y="4169664"/>
            <a:ext cx="338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7085"/>
                </a:solidFill>
              </a:rPr>
              <a:t>#</a:t>
            </a:r>
            <a:endParaRPr lang="en-US" sz="900" dirty="0"/>
          </a:p>
        </p:txBody>
      </p:sp>
      <p:sp>
        <p:nvSpPr>
          <p:cNvPr id="194" name="Shape 192"/>
          <p:cNvSpPr/>
          <p:nvPr/>
        </p:nvSpPr>
        <p:spPr>
          <a:xfrm>
            <a:off x="4023360" y="4123944"/>
            <a:ext cx="338328" cy="338328"/>
          </a:xfrm>
          <a:prstGeom prst="rect">
            <a:avLst/>
          </a:prstGeom>
          <a:solidFill>
            <a:srgbClr val="C7CBD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95" name="Text 193"/>
          <p:cNvSpPr/>
          <p:nvPr/>
        </p:nvSpPr>
        <p:spPr>
          <a:xfrm>
            <a:off x="4023360" y="4169664"/>
            <a:ext cx="338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7085"/>
                </a:solidFill>
              </a:rPr>
              <a:t>#</a:t>
            </a:r>
            <a:endParaRPr lang="en-US" sz="900" dirty="0"/>
          </a:p>
        </p:txBody>
      </p:sp>
      <p:sp>
        <p:nvSpPr>
          <p:cNvPr id="196" name="Shape 194"/>
          <p:cNvSpPr/>
          <p:nvPr/>
        </p:nvSpPr>
        <p:spPr>
          <a:xfrm>
            <a:off x="640080" y="4462272"/>
            <a:ext cx="338328" cy="338328"/>
          </a:xfrm>
          <a:prstGeom prst="rect">
            <a:avLst/>
          </a:prstGeom>
          <a:solidFill>
            <a:srgbClr val="C7CBD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97" name="Text 195"/>
          <p:cNvSpPr/>
          <p:nvPr/>
        </p:nvSpPr>
        <p:spPr>
          <a:xfrm>
            <a:off x="640080" y="4507992"/>
            <a:ext cx="338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7085"/>
                </a:solidFill>
              </a:rPr>
              <a:t>#</a:t>
            </a:r>
            <a:endParaRPr lang="en-US" sz="900" dirty="0"/>
          </a:p>
        </p:txBody>
      </p:sp>
      <p:sp>
        <p:nvSpPr>
          <p:cNvPr id="198" name="Shape 196"/>
          <p:cNvSpPr/>
          <p:nvPr/>
        </p:nvSpPr>
        <p:spPr>
          <a:xfrm>
            <a:off x="978408" y="4462272"/>
            <a:ext cx="338328" cy="338328"/>
          </a:xfrm>
          <a:prstGeom prst="rect">
            <a:avLst/>
          </a:prstGeom>
          <a:solidFill>
            <a:srgbClr val="C7CBD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99" name="Text 197"/>
          <p:cNvSpPr/>
          <p:nvPr/>
        </p:nvSpPr>
        <p:spPr>
          <a:xfrm>
            <a:off x="978408" y="4507992"/>
            <a:ext cx="338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7085"/>
                </a:solidFill>
              </a:rPr>
              <a:t>#</a:t>
            </a:r>
            <a:endParaRPr lang="en-US" sz="900" dirty="0"/>
          </a:p>
        </p:txBody>
      </p:sp>
      <p:sp>
        <p:nvSpPr>
          <p:cNvPr id="200" name="Shape 198"/>
          <p:cNvSpPr/>
          <p:nvPr/>
        </p:nvSpPr>
        <p:spPr>
          <a:xfrm>
            <a:off x="1316736" y="4462272"/>
            <a:ext cx="338328" cy="338328"/>
          </a:xfrm>
          <a:prstGeom prst="rect">
            <a:avLst/>
          </a:prstGeom>
          <a:solidFill>
            <a:srgbClr val="C7CBD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201" name="Text 199"/>
          <p:cNvSpPr/>
          <p:nvPr/>
        </p:nvSpPr>
        <p:spPr>
          <a:xfrm>
            <a:off x="1316736" y="4507992"/>
            <a:ext cx="338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7085"/>
                </a:solidFill>
              </a:rPr>
              <a:t>#</a:t>
            </a:r>
            <a:endParaRPr lang="en-US" sz="900" dirty="0"/>
          </a:p>
        </p:txBody>
      </p:sp>
      <p:sp>
        <p:nvSpPr>
          <p:cNvPr id="202" name="Shape 200"/>
          <p:cNvSpPr/>
          <p:nvPr/>
        </p:nvSpPr>
        <p:spPr>
          <a:xfrm>
            <a:off x="1655064" y="4462272"/>
            <a:ext cx="338328" cy="338328"/>
          </a:xfrm>
          <a:prstGeom prst="rect">
            <a:avLst/>
          </a:prstGeom>
          <a:solidFill>
            <a:srgbClr val="C7CBD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203" name="Text 201"/>
          <p:cNvSpPr/>
          <p:nvPr/>
        </p:nvSpPr>
        <p:spPr>
          <a:xfrm>
            <a:off x="1655064" y="4507992"/>
            <a:ext cx="338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7085"/>
                </a:solidFill>
              </a:rPr>
              <a:t>#</a:t>
            </a:r>
            <a:endParaRPr lang="en-US" sz="900" dirty="0"/>
          </a:p>
        </p:txBody>
      </p:sp>
      <p:sp>
        <p:nvSpPr>
          <p:cNvPr id="204" name="Shape 202"/>
          <p:cNvSpPr/>
          <p:nvPr/>
        </p:nvSpPr>
        <p:spPr>
          <a:xfrm>
            <a:off x="1993392" y="4462272"/>
            <a:ext cx="338328" cy="338328"/>
          </a:xfrm>
          <a:prstGeom prst="rect">
            <a:avLst/>
          </a:prstGeom>
          <a:solidFill>
            <a:srgbClr val="C7CBD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205" name="Text 203"/>
          <p:cNvSpPr/>
          <p:nvPr/>
        </p:nvSpPr>
        <p:spPr>
          <a:xfrm>
            <a:off x="1993392" y="4507992"/>
            <a:ext cx="338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7085"/>
                </a:solidFill>
              </a:rPr>
              <a:t>#</a:t>
            </a:r>
            <a:endParaRPr lang="en-US" sz="900" dirty="0"/>
          </a:p>
        </p:txBody>
      </p:sp>
      <p:sp>
        <p:nvSpPr>
          <p:cNvPr id="206" name="Shape 204"/>
          <p:cNvSpPr/>
          <p:nvPr/>
        </p:nvSpPr>
        <p:spPr>
          <a:xfrm>
            <a:off x="2331720" y="4462272"/>
            <a:ext cx="338328" cy="338328"/>
          </a:xfrm>
          <a:prstGeom prst="rect">
            <a:avLst/>
          </a:prstGeom>
          <a:solidFill>
            <a:srgbClr val="C7CBD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207" name="Text 205"/>
          <p:cNvSpPr/>
          <p:nvPr/>
        </p:nvSpPr>
        <p:spPr>
          <a:xfrm>
            <a:off x="2331720" y="4507992"/>
            <a:ext cx="338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7085"/>
                </a:solidFill>
              </a:rPr>
              <a:t>#</a:t>
            </a:r>
            <a:endParaRPr lang="en-US" sz="900" dirty="0"/>
          </a:p>
        </p:txBody>
      </p:sp>
      <p:sp>
        <p:nvSpPr>
          <p:cNvPr id="208" name="Shape 206"/>
          <p:cNvSpPr/>
          <p:nvPr/>
        </p:nvSpPr>
        <p:spPr>
          <a:xfrm>
            <a:off x="2670048" y="4462272"/>
            <a:ext cx="338328" cy="338328"/>
          </a:xfrm>
          <a:prstGeom prst="rect">
            <a:avLst/>
          </a:prstGeom>
          <a:solidFill>
            <a:srgbClr val="C7CBD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209" name="Text 207"/>
          <p:cNvSpPr/>
          <p:nvPr/>
        </p:nvSpPr>
        <p:spPr>
          <a:xfrm>
            <a:off x="2670048" y="4507992"/>
            <a:ext cx="338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7085"/>
                </a:solidFill>
              </a:rPr>
              <a:t>#</a:t>
            </a:r>
            <a:endParaRPr lang="en-US" sz="900" dirty="0"/>
          </a:p>
        </p:txBody>
      </p:sp>
      <p:sp>
        <p:nvSpPr>
          <p:cNvPr id="210" name="Shape 208"/>
          <p:cNvSpPr/>
          <p:nvPr/>
        </p:nvSpPr>
        <p:spPr>
          <a:xfrm>
            <a:off x="3008376" y="4462272"/>
            <a:ext cx="338328" cy="338328"/>
          </a:xfrm>
          <a:prstGeom prst="rect">
            <a:avLst/>
          </a:prstGeom>
          <a:solidFill>
            <a:srgbClr val="C7CBD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211" name="Text 209"/>
          <p:cNvSpPr/>
          <p:nvPr/>
        </p:nvSpPr>
        <p:spPr>
          <a:xfrm>
            <a:off x="3008376" y="4507992"/>
            <a:ext cx="338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7085"/>
                </a:solidFill>
              </a:rPr>
              <a:t>#</a:t>
            </a:r>
            <a:endParaRPr lang="en-US" sz="900" dirty="0"/>
          </a:p>
        </p:txBody>
      </p:sp>
      <p:sp>
        <p:nvSpPr>
          <p:cNvPr id="212" name="Shape 210"/>
          <p:cNvSpPr/>
          <p:nvPr/>
        </p:nvSpPr>
        <p:spPr>
          <a:xfrm>
            <a:off x="3346704" y="4462272"/>
            <a:ext cx="338328" cy="338328"/>
          </a:xfrm>
          <a:prstGeom prst="rect">
            <a:avLst/>
          </a:prstGeom>
          <a:solidFill>
            <a:srgbClr val="C7CBD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213" name="Text 211"/>
          <p:cNvSpPr/>
          <p:nvPr/>
        </p:nvSpPr>
        <p:spPr>
          <a:xfrm>
            <a:off x="3346704" y="4507992"/>
            <a:ext cx="338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7085"/>
                </a:solidFill>
              </a:rPr>
              <a:t>#</a:t>
            </a:r>
            <a:endParaRPr lang="en-US" sz="900" dirty="0"/>
          </a:p>
        </p:txBody>
      </p:sp>
      <p:sp>
        <p:nvSpPr>
          <p:cNvPr id="214" name="Shape 212"/>
          <p:cNvSpPr/>
          <p:nvPr/>
        </p:nvSpPr>
        <p:spPr>
          <a:xfrm>
            <a:off x="3685032" y="4462272"/>
            <a:ext cx="338328" cy="338328"/>
          </a:xfrm>
          <a:prstGeom prst="rect">
            <a:avLst/>
          </a:prstGeom>
          <a:solidFill>
            <a:srgbClr val="C7CBD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215" name="Text 213"/>
          <p:cNvSpPr/>
          <p:nvPr/>
        </p:nvSpPr>
        <p:spPr>
          <a:xfrm>
            <a:off x="3685032" y="4507992"/>
            <a:ext cx="338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7085"/>
                </a:solidFill>
              </a:rPr>
              <a:t>#</a:t>
            </a:r>
            <a:endParaRPr lang="en-US" sz="900" dirty="0"/>
          </a:p>
        </p:txBody>
      </p:sp>
      <p:sp>
        <p:nvSpPr>
          <p:cNvPr id="216" name="Shape 214"/>
          <p:cNvSpPr/>
          <p:nvPr/>
        </p:nvSpPr>
        <p:spPr>
          <a:xfrm>
            <a:off x="4023360" y="4462272"/>
            <a:ext cx="338328" cy="338328"/>
          </a:xfrm>
          <a:prstGeom prst="rect">
            <a:avLst/>
          </a:prstGeom>
          <a:solidFill>
            <a:srgbClr val="C7CBD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217" name="Text 215"/>
          <p:cNvSpPr/>
          <p:nvPr/>
        </p:nvSpPr>
        <p:spPr>
          <a:xfrm>
            <a:off x="4023360" y="4507992"/>
            <a:ext cx="338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7085"/>
                </a:solidFill>
              </a:rPr>
              <a:t>#</a:t>
            </a:r>
            <a:endParaRPr lang="en-US" sz="900" dirty="0"/>
          </a:p>
        </p:txBody>
      </p:sp>
      <p:sp>
        <p:nvSpPr>
          <p:cNvPr id="218" name="Shape 216"/>
          <p:cNvSpPr/>
          <p:nvPr/>
        </p:nvSpPr>
        <p:spPr>
          <a:xfrm>
            <a:off x="640080" y="4800600"/>
            <a:ext cx="338328" cy="338328"/>
          </a:xfrm>
          <a:prstGeom prst="rect">
            <a:avLst/>
          </a:prstGeom>
          <a:solidFill>
            <a:srgbClr val="C7CBD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219" name="Text 217"/>
          <p:cNvSpPr/>
          <p:nvPr/>
        </p:nvSpPr>
        <p:spPr>
          <a:xfrm>
            <a:off x="640080" y="4846320"/>
            <a:ext cx="338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7085"/>
                </a:solidFill>
              </a:rPr>
              <a:t>#</a:t>
            </a:r>
            <a:endParaRPr lang="en-US" sz="900" dirty="0"/>
          </a:p>
        </p:txBody>
      </p:sp>
      <p:sp>
        <p:nvSpPr>
          <p:cNvPr id="220" name="Shape 218"/>
          <p:cNvSpPr/>
          <p:nvPr/>
        </p:nvSpPr>
        <p:spPr>
          <a:xfrm>
            <a:off x="978408" y="4800600"/>
            <a:ext cx="338328" cy="338328"/>
          </a:xfrm>
          <a:prstGeom prst="rect">
            <a:avLst/>
          </a:prstGeom>
          <a:solidFill>
            <a:srgbClr val="C7CBD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221" name="Text 219"/>
          <p:cNvSpPr/>
          <p:nvPr/>
        </p:nvSpPr>
        <p:spPr>
          <a:xfrm>
            <a:off x="978408" y="4846320"/>
            <a:ext cx="338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7085"/>
                </a:solidFill>
              </a:rPr>
              <a:t>#</a:t>
            </a:r>
            <a:endParaRPr lang="en-US" sz="900" dirty="0"/>
          </a:p>
        </p:txBody>
      </p:sp>
      <p:sp>
        <p:nvSpPr>
          <p:cNvPr id="222" name="Shape 220"/>
          <p:cNvSpPr/>
          <p:nvPr/>
        </p:nvSpPr>
        <p:spPr>
          <a:xfrm>
            <a:off x="1316736" y="4800600"/>
            <a:ext cx="338328" cy="338328"/>
          </a:xfrm>
          <a:prstGeom prst="rect">
            <a:avLst/>
          </a:prstGeom>
          <a:solidFill>
            <a:srgbClr val="C7CBD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223" name="Text 221"/>
          <p:cNvSpPr/>
          <p:nvPr/>
        </p:nvSpPr>
        <p:spPr>
          <a:xfrm>
            <a:off x="1316736" y="4846320"/>
            <a:ext cx="338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7085"/>
                </a:solidFill>
              </a:rPr>
              <a:t>#</a:t>
            </a:r>
            <a:endParaRPr lang="en-US" sz="900" dirty="0"/>
          </a:p>
        </p:txBody>
      </p:sp>
      <p:sp>
        <p:nvSpPr>
          <p:cNvPr id="224" name="Shape 222"/>
          <p:cNvSpPr/>
          <p:nvPr/>
        </p:nvSpPr>
        <p:spPr>
          <a:xfrm>
            <a:off x="1655064" y="4800600"/>
            <a:ext cx="338328" cy="338328"/>
          </a:xfrm>
          <a:prstGeom prst="rect">
            <a:avLst/>
          </a:prstGeom>
          <a:solidFill>
            <a:srgbClr val="C7CBD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225" name="Text 223"/>
          <p:cNvSpPr/>
          <p:nvPr/>
        </p:nvSpPr>
        <p:spPr>
          <a:xfrm>
            <a:off x="1655064" y="4846320"/>
            <a:ext cx="338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7085"/>
                </a:solidFill>
              </a:rPr>
              <a:t>#</a:t>
            </a:r>
            <a:endParaRPr lang="en-US" sz="900" dirty="0"/>
          </a:p>
        </p:txBody>
      </p:sp>
      <p:sp>
        <p:nvSpPr>
          <p:cNvPr id="226" name="Shape 224"/>
          <p:cNvSpPr/>
          <p:nvPr/>
        </p:nvSpPr>
        <p:spPr>
          <a:xfrm>
            <a:off x="1993392" y="4800600"/>
            <a:ext cx="338328" cy="338328"/>
          </a:xfrm>
          <a:prstGeom prst="rect">
            <a:avLst/>
          </a:prstGeom>
          <a:solidFill>
            <a:srgbClr val="C7CBD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227" name="Text 225"/>
          <p:cNvSpPr/>
          <p:nvPr/>
        </p:nvSpPr>
        <p:spPr>
          <a:xfrm>
            <a:off x="1993392" y="4846320"/>
            <a:ext cx="338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7085"/>
                </a:solidFill>
              </a:rPr>
              <a:t>#</a:t>
            </a:r>
            <a:endParaRPr lang="en-US" sz="900" dirty="0"/>
          </a:p>
        </p:txBody>
      </p:sp>
      <p:sp>
        <p:nvSpPr>
          <p:cNvPr id="228" name="Shape 226"/>
          <p:cNvSpPr/>
          <p:nvPr/>
        </p:nvSpPr>
        <p:spPr>
          <a:xfrm>
            <a:off x="2331720" y="4800600"/>
            <a:ext cx="338328" cy="338328"/>
          </a:xfrm>
          <a:prstGeom prst="rect">
            <a:avLst/>
          </a:prstGeom>
          <a:solidFill>
            <a:srgbClr val="C7CBD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229" name="Text 227"/>
          <p:cNvSpPr/>
          <p:nvPr/>
        </p:nvSpPr>
        <p:spPr>
          <a:xfrm>
            <a:off x="2331720" y="4846320"/>
            <a:ext cx="338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7085"/>
                </a:solidFill>
              </a:rPr>
              <a:t>#</a:t>
            </a:r>
            <a:endParaRPr lang="en-US" sz="900" dirty="0"/>
          </a:p>
        </p:txBody>
      </p:sp>
      <p:sp>
        <p:nvSpPr>
          <p:cNvPr id="230" name="Shape 228"/>
          <p:cNvSpPr/>
          <p:nvPr/>
        </p:nvSpPr>
        <p:spPr>
          <a:xfrm>
            <a:off x="2670048" y="4800600"/>
            <a:ext cx="338328" cy="338328"/>
          </a:xfrm>
          <a:prstGeom prst="rect">
            <a:avLst/>
          </a:prstGeom>
          <a:solidFill>
            <a:srgbClr val="C7CBD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231" name="Text 229"/>
          <p:cNvSpPr/>
          <p:nvPr/>
        </p:nvSpPr>
        <p:spPr>
          <a:xfrm>
            <a:off x="2670048" y="4846320"/>
            <a:ext cx="338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7085"/>
                </a:solidFill>
              </a:rPr>
              <a:t>#</a:t>
            </a:r>
            <a:endParaRPr lang="en-US" sz="900" dirty="0"/>
          </a:p>
        </p:txBody>
      </p:sp>
      <p:sp>
        <p:nvSpPr>
          <p:cNvPr id="232" name="Shape 230"/>
          <p:cNvSpPr/>
          <p:nvPr/>
        </p:nvSpPr>
        <p:spPr>
          <a:xfrm>
            <a:off x="3008376" y="4800600"/>
            <a:ext cx="338328" cy="338328"/>
          </a:xfrm>
          <a:prstGeom prst="rect">
            <a:avLst/>
          </a:prstGeom>
          <a:solidFill>
            <a:srgbClr val="C7CBD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233" name="Text 231"/>
          <p:cNvSpPr/>
          <p:nvPr/>
        </p:nvSpPr>
        <p:spPr>
          <a:xfrm>
            <a:off x="3008376" y="4846320"/>
            <a:ext cx="338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7085"/>
                </a:solidFill>
              </a:rPr>
              <a:t>#</a:t>
            </a:r>
            <a:endParaRPr lang="en-US" sz="900" dirty="0"/>
          </a:p>
        </p:txBody>
      </p:sp>
      <p:sp>
        <p:nvSpPr>
          <p:cNvPr id="234" name="Shape 232"/>
          <p:cNvSpPr/>
          <p:nvPr/>
        </p:nvSpPr>
        <p:spPr>
          <a:xfrm>
            <a:off x="3346704" y="4800600"/>
            <a:ext cx="338328" cy="338328"/>
          </a:xfrm>
          <a:prstGeom prst="rect">
            <a:avLst/>
          </a:prstGeom>
          <a:solidFill>
            <a:srgbClr val="C7CBD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235" name="Text 233"/>
          <p:cNvSpPr/>
          <p:nvPr/>
        </p:nvSpPr>
        <p:spPr>
          <a:xfrm>
            <a:off x="3346704" y="4846320"/>
            <a:ext cx="338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7085"/>
                </a:solidFill>
              </a:rPr>
              <a:t>#</a:t>
            </a:r>
            <a:endParaRPr lang="en-US" sz="900" dirty="0"/>
          </a:p>
        </p:txBody>
      </p:sp>
      <p:sp>
        <p:nvSpPr>
          <p:cNvPr id="236" name="Shape 234"/>
          <p:cNvSpPr/>
          <p:nvPr/>
        </p:nvSpPr>
        <p:spPr>
          <a:xfrm>
            <a:off x="3685032" y="4800600"/>
            <a:ext cx="338328" cy="338328"/>
          </a:xfrm>
          <a:prstGeom prst="rect">
            <a:avLst/>
          </a:prstGeom>
          <a:solidFill>
            <a:srgbClr val="C7CBD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237" name="Text 235"/>
          <p:cNvSpPr/>
          <p:nvPr/>
        </p:nvSpPr>
        <p:spPr>
          <a:xfrm>
            <a:off x="3685032" y="4846320"/>
            <a:ext cx="338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7085"/>
                </a:solidFill>
              </a:rPr>
              <a:t>#</a:t>
            </a:r>
            <a:endParaRPr lang="en-US" sz="900" dirty="0"/>
          </a:p>
        </p:txBody>
      </p:sp>
      <p:sp>
        <p:nvSpPr>
          <p:cNvPr id="238" name="Shape 236"/>
          <p:cNvSpPr/>
          <p:nvPr/>
        </p:nvSpPr>
        <p:spPr>
          <a:xfrm>
            <a:off x="4023360" y="4800600"/>
            <a:ext cx="338328" cy="338328"/>
          </a:xfrm>
          <a:prstGeom prst="rect">
            <a:avLst/>
          </a:prstGeom>
          <a:solidFill>
            <a:srgbClr val="C7CBD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239" name="Text 237"/>
          <p:cNvSpPr/>
          <p:nvPr/>
        </p:nvSpPr>
        <p:spPr>
          <a:xfrm>
            <a:off x="4023360" y="4846320"/>
            <a:ext cx="338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7085"/>
                </a:solidFill>
              </a:rPr>
              <a:t>#</a:t>
            </a:r>
            <a:endParaRPr lang="en-US" sz="900" dirty="0"/>
          </a:p>
        </p:txBody>
      </p:sp>
      <p:sp>
        <p:nvSpPr>
          <p:cNvPr id="240" name="Shape 238"/>
          <p:cNvSpPr/>
          <p:nvPr/>
        </p:nvSpPr>
        <p:spPr>
          <a:xfrm>
            <a:off x="621792" y="5349240"/>
            <a:ext cx="37947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41" name="Text 239"/>
          <p:cNvSpPr/>
          <p:nvPr/>
        </p:nvSpPr>
        <p:spPr>
          <a:xfrm>
            <a:off x="822960" y="550468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54747"/>
                </a:solidFill>
              </a:rPr>
              <a:t>💣  040</a:t>
            </a:r>
            <a:endParaRPr lang="en-US" sz="1200" dirty="0"/>
          </a:p>
        </p:txBody>
      </p:sp>
      <p:sp>
        <p:nvSpPr>
          <p:cNvPr id="242" name="Shape 240"/>
          <p:cNvSpPr/>
          <p:nvPr/>
        </p:nvSpPr>
        <p:spPr>
          <a:xfrm>
            <a:off x="1783080" y="5440680"/>
            <a:ext cx="749808" cy="384048"/>
          </a:xfrm>
          <a:prstGeom prst="roundRect">
            <a:avLst>
              <a:gd name="adj" fmla="val 11905"/>
            </a:avLst>
          </a:prstGeom>
          <a:solidFill>
            <a:srgbClr val="E9EDF1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43" name="Text 241"/>
          <p:cNvSpPr/>
          <p:nvPr/>
        </p:nvSpPr>
        <p:spPr>
          <a:xfrm>
            <a:off x="1901952" y="547725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🙂</a:t>
            </a:r>
            <a:endParaRPr lang="en-US" sz="1500" dirty="0"/>
          </a:p>
        </p:txBody>
      </p:sp>
      <p:sp>
        <p:nvSpPr>
          <p:cNvPr id="244" name="Text 242"/>
          <p:cNvSpPr/>
          <p:nvPr/>
        </p:nvSpPr>
        <p:spPr>
          <a:xfrm>
            <a:off x="2898648" y="550468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54747"/>
                </a:solidFill>
              </a:rPr>
              <a:t>⏱  037 s</a:t>
            </a:r>
            <a:endParaRPr lang="en-US" sz="1200" dirty="0"/>
          </a:p>
        </p:txBody>
      </p:sp>
      <p:sp>
        <p:nvSpPr>
          <p:cNvPr id="245" name="Shape 243"/>
          <p:cNvSpPr/>
          <p:nvPr/>
        </p:nvSpPr>
        <p:spPr>
          <a:xfrm>
            <a:off x="4892040" y="1508760"/>
            <a:ext cx="2971800" cy="1353312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4892040" y="1508760"/>
            <a:ext cx="64008" cy="135331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47" name="Text 245"/>
          <p:cNvSpPr/>
          <p:nvPr/>
        </p:nvSpPr>
        <p:spPr>
          <a:xfrm>
            <a:off x="5111496" y="167335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939"/>
                </a:solidFill>
              </a:rPr>
              <a:t>Player Actions</a:t>
            </a:r>
            <a:endParaRPr lang="en-US" sz="1600" dirty="0"/>
          </a:p>
        </p:txBody>
      </p:sp>
      <p:sp>
        <p:nvSpPr>
          <p:cNvPr id="248" name="Text 246"/>
          <p:cNvSpPr/>
          <p:nvPr/>
        </p:nvSpPr>
        <p:spPr>
          <a:xfrm>
            <a:off x="5111496" y="2075688"/>
            <a:ext cx="260604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</a:rPr>
              <a:t>Left click: reveal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</a:rPr>
              <a:t>Right click: flag / unflag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</a:rPr>
              <a:t>Double click: chord a revealed number</a:t>
            </a:r>
            <a:endParaRPr lang="en-US" sz="1200" dirty="0"/>
          </a:p>
        </p:txBody>
      </p:sp>
      <p:sp>
        <p:nvSpPr>
          <p:cNvPr id="249" name="Shape 247"/>
          <p:cNvSpPr/>
          <p:nvPr/>
        </p:nvSpPr>
        <p:spPr>
          <a:xfrm>
            <a:off x="8092440" y="1508760"/>
            <a:ext cx="3429000" cy="1353312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8092440" y="1508760"/>
            <a:ext cx="64008" cy="1353312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251" name="Text 249"/>
          <p:cNvSpPr/>
          <p:nvPr/>
        </p:nvSpPr>
        <p:spPr>
          <a:xfrm>
            <a:off x="8311896" y="167335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939"/>
                </a:solidFill>
              </a:rPr>
              <a:t>What Gets Logged</a:t>
            </a:r>
            <a:endParaRPr lang="en-US" sz="1600" dirty="0"/>
          </a:p>
        </p:txBody>
      </p:sp>
      <p:sp>
        <p:nvSpPr>
          <p:cNvPr id="252" name="Text 250"/>
          <p:cNvSpPr/>
          <p:nvPr/>
        </p:nvSpPr>
        <p:spPr>
          <a:xfrm>
            <a:off x="8311896" y="2075688"/>
            <a:ext cx="306324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</a:rPr>
              <a:t>Move, timing, visible board, revealed cells, flags, local board features, and game outcome.</a:t>
            </a:r>
            <a:endParaRPr lang="en-US" sz="1200" dirty="0"/>
          </a:p>
        </p:txBody>
      </p:sp>
      <p:sp>
        <p:nvSpPr>
          <p:cNvPr id="253" name="Shape 251"/>
          <p:cNvSpPr/>
          <p:nvPr/>
        </p:nvSpPr>
        <p:spPr>
          <a:xfrm>
            <a:off x="4892040" y="3063240"/>
            <a:ext cx="2971800" cy="1353312"/>
          </a:xfrm>
          <a:prstGeom prst="roundRect">
            <a:avLst>
              <a:gd name="adj" fmla="val 4054"/>
            </a:avLst>
          </a:prstGeom>
          <a:solidFill>
            <a:srgbClr val="FFF1E2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4892040" y="3063240"/>
            <a:ext cx="64008" cy="1353312"/>
          </a:xfrm>
          <a:prstGeom prst="rect">
            <a:avLst/>
          </a:prstGeom>
          <a:solidFill>
            <a:srgbClr val="C97924"/>
          </a:solidFill>
          <a:ln w="12700">
            <a:solidFill>
              <a:srgbClr val="C97924"/>
            </a:solidFill>
            <a:prstDash val="solid"/>
          </a:ln>
        </p:spPr>
      </p:sp>
      <p:sp>
        <p:nvSpPr>
          <p:cNvPr id="255" name="Text 253"/>
          <p:cNvSpPr/>
          <p:nvPr/>
        </p:nvSpPr>
        <p:spPr>
          <a:xfrm>
            <a:off x="5111496" y="322783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939"/>
                </a:solidFill>
              </a:rPr>
              <a:t>Mistakes Included</a:t>
            </a:r>
            <a:endParaRPr lang="en-US" sz="1600" dirty="0"/>
          </a:p>
        </p:txBody>
      </p:sp>
      <p:sp>
        <p:nvSpPr>
          <p:cNvPr id="256" name="Text 254"/>
          <p:cNvSpPr/>
          <p:nvPr/>
        </p:nvSpPr>
        <p:spPr>
          <a:xfrm>
            <a:off x="5111496" y="3630168"/>
            <a:ext cx="260604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</a:rPr>
              <a:t>Mine hits, early losses, wrong flags, and other natural decisions remain in the dataset.</a:t>
            </a:r>
            <a:endParaRPr lang="en-US" sz="1200" dirty="0"/>
          </a:p>
        </p:txBody>
      </p:sp>
      <p:sp>
        <p:nvSpPr>
          <p:cNvPr id="257" name="Shape 255"/>
          <p:cNvSpPr/>
          <p:nvPr/>
        </p:nvSpPr>
        <p:spPr>
          <a:xfrm>
            <a:off x="8092440" y="3063240"/>
            <a:ext cx="3429000" cy="1353312"/>
          </a:xfrm>
          <a:prstGeom prst="roundRect">
            <a:avLst>
              <a:gd name="adj" fmla="val 4054"/>
            </a:avLst>
          </a:prstGeom>
          <a:solidFill>
            <a:srgbClr val="EAF5EE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8092440" y="3063240"/>
            <a:ext cx="64008" cy="1353312"/>
          </a:xfrm>
          <a:prstGeom prst="rect">
            <a:avLst/>
          </a:prstGeom>
          <a:solidFill>
            <a:srgbClr val="2F7D4A"/>
          </a:solidFill>
          <a:ln w="12700">
            <a:solidFill>
              <a:srgbClr val="2F7D4A"/>
            </a:solidFill>
            <a:prstDash val="solid"/>
          </a:ln>
        </p:spPr>
      </p:sp>
      <p:sp>
        <p:nvSpPr>
          <p:cNvPr id="259" name="Text 257"/>
          <p:cNvSpPr/>
          <p:nvPr/>
        </p:nvSpPr>
        <p:spPr>
          <a:xfrm>
            <a:off x="8311896" y="322783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939"/>
                </a:solidFill>
              </a:rPr>
              <a:t>Privacy of State</a:t>
            </a:r>
            <a:endParaRPr lang="en-US" sz="1600" dirty="0"/>
          </a:p>
        </p:txBody>
      </p:sp>
      <p:sp>
        <p:nvSpPr>
          <p:cNvPr id="260" name="Text 258"/>
          <p:cNvSpPr/>
          <p:nvPr/>
        </p:nvSpPr>
        <p:spPr>
          <a:xfrm>
            <a:off x="8311896" y="3630168"/>
            <a:ext cx="306324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</a:rPr>
              <a:t>Hidden mine positions are not written to the behavioral log; the dataset reflects what the player could see.</a:t>
            </a:r>
            <a:endParaRPr lang="en-US" sz="1200" dirty="0"/>
          </a:p>
        </p:txBody>
      </p:sp>
      <p:sp>
        <p:nvSpPr>
          <p:cNvPr id="261" name="Shape 259"/>
          <p:cNvSpPr/>
          <p:nvPr/>
        </p:nvSpPr>
        <p:spPr>
          <a:xfrm>
            <a:off x="4892040" y="4736592"/>
            <a:ext cx="6629400" cy="960120"/>
          </a:xfrm>
          <a:prstGeom prst="roundRect">
            <a:avLst>
              <a:gd name="adj" fmla="val 5714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262" name="Text 260"/>
          <p:cNvSpPr/>
          <p:nvPr/>
        </p:nvSpPr>
        <p:spPr>
          <a:xfrm>
            <a:off x="5166360" y="495604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Output: human_gameplay.csv</a:t>
            </a:r>
            <a:endParaRPr lang="en-US" sz="1600" dirty="0"/>
          </a:p>
        </p:txBody>
      </p:sp>
      <p:sp>
        <p:nvSpPr>
          <p:cNvPr id="263" name="Text 261"/>
          <p:cNvSpPr/>
          <p:nvPr/>
        </p:nvSpPr>
        <p:spPr>
          <a:xfrm>
            <a:off x="7406640" y="4965192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CE6EF"/>
                </a:solidFill>
              </a:rPr>
              <a:t>Each action becomes one research observation for later behavior modeling.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Raw Gameplay to a Human Behavior Model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objective is to learn the probability that a human would choose a candidate move.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94360" y="1508760"/>
            <a:ext cx="2331720" cy="1508760"/>
          </a:xfrm>
          <a:prstGeom prst="roundRect">
            <a:avLst>
              <a:gd name="adj" fmla="val 3636"/>
            </a:avLst>
          </a:prstGeom>
          <a:solidFill>
            <a:srgbClr val="EAF2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508760"/>
            <a:ext cx="64008" cy="15087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3816" y="167335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939"/>
                </a:solidFill>
              </a:rPr>
              <a:t>1. Human Game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3816" y="2075688"/>
            <a:ext cx="1965960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</a:rPr>
              <a:t>Natural mouse interactions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</a:rPr>
              <a:t>across many boards.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926080" y="2249424"/>
            <a:ext cx="393192" cy="0"/>
          </a:xfrm>
          <a:prstGeom prst="line">
            <a:avLst/>
          </a:prstGeom>
          <a:noFill/>
          <a:ln w="27940">
            <a:solidFill>
              <a:srgbClr val="667085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429000" y="1508760"/>
            <a:ext cx="2331720" cy="1508760"/>
          </a:xfrm>
          <a:prstGeom prst="roundRect">
            <a:avLst>
              <a:gd name="adj" fmla="val 3636"/>
            </a:avLst>
          </a:prstGeom>
          <a:solidFill>
            <a:srgbClr val="EAF6F6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29000" y="1508760"/>
            <a:ext cx="64008" cy="150876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48456" y="167335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939"/>
                </a:solidFill>
              </a:rPr>
              <a:t>2. Decision Context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48456" y="2075688"/>
            <a:ext cx="1965960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</a:rPr>
              <a:t>Visible board + local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</a:rPr>
              <a:t>features at each action.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760720" y="2249424"/>
            <a:ext cx="393192" cy="0"/>
          </a:xfrm>
          <a:prstGeom prst="line">
            <a:avLst/>
          </a:prstGeom>
          <a:noFill/>
          <a:ln w="27940">
            <a:solidFill>
              <a:srgbClr val="667085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263640" y="1508760"/>
            <a:ext cx="2331720" cy="1508760"/>
          </a:xfrm>
          <a:prstGeom prst="roundRect">
            <a:avLst>
              <a:gd name="adj" fmla="val 3636"/>
            </a:avLst>
          </a:prstGeom>
          <a:solidFill>
            <a:srgbClr val="FFF1E2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63640" y="1508760"/>
            <a:ext cx="64008" cy="1508760"/>
          </a:xfrm>
          <a:prstGeom prst="rect">
            <a:avLst/>
          </a:prstGeom>
          <a:solidFill>
            <a:srgbClr val="C97924"/>
          </a:solidFill>
          <a:ln w="12700">
            <a:solidFill>
              <a:srgbClr val="C979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83096" y="167335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939"/>
                </a:solidFill>
              </a:rPr>
              <a:t>3. Candidate Moves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83096" y="2075688"/>
            <a:ext cx="1965960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</a:rPr>
              <a:t>Identify plausible choices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</a:rPr>
              <a:t>for the same state.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595360" y="2249424"/>
            <a:ext cx="393192" cy="0"/>
          </a:xfrm>
          <a:prstGeom prst="line">
            <a:avLst/>
          </a:prstGeom>
          <a:noFill/>
          <a:ln w="27940">
            <a:solidFill>
              <a:srgbClr val="667085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098280" y="1508760"/>
            <a:ext cx="2331720" cy="1508760"/>
          </a:xfrm>
          <a:prstGeom prst="roundRect">
            <a:avLst>
              <a:gd name="adj" fmla="val 3636"/>
            </a:avLst>
          </a:prstGeom>
          <a:solidFill>
            <a:srgbClr val="EAF5EE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98280" y="1508760"/>
            <a:ext cx="64008" cy="1508760"/>
          </a:xfrm>
          <a:prstGeom prst="rect">
            <a:avLst/>
          </a:prstGeom>
          <a:solidFill>
            <a:srgbClr val="2F7D4A"/>
          </a:solidFill>
          <a:ln w="12700">
            <a:solidFill>
              <a:srgbClr val="2F7D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17736" y="167335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939"/>
                </a:solidFill>
              </a:rPr>
              <a:t>4. Learned Model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317736" y="2075688"/>
            <a:ext cx="1965960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</a:rPr>
              <a:t>Estimate P(move | state)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</a:rPr>
              <a:t>for human-like ranking.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1792" y="340156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</a:rPr>
              <a:t>Candidate features we can learn from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67512" y="3886200"/>
            <a:ext cx="109728" cy="109728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385876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2939"/>
                </a:solidFill>
              </a:rPr>
              <a:t>Mine risk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514600" y="385876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Estimated chance of selecting a mine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67512" y="4325112"/>
            <a:ext cx="109728" cy="109728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429768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2939"/>
                </a:solidFill>
              </a:rPr>
              <a:t>Information value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514600" y="42976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How much new board information a move may reveal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67512" y="4764024"/>
            <a:ext cx="109728" cy="109728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473659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2939"/>
                </a:solidFill>
              </a:rPr>
              <a:t>Frontier score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514600" y="473659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Whether the cell is near already revealed information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67512" y="5202936"/>
            <a:ext cx="109728" cy="109728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" y="5175504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2939"/>
                </a:solidFill>
              </a:rPr>
              <a:t>Locality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514600" y="517550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Relationship to nearby revealed cells / recent moves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67512" y="5641848"/>
            <a:ext cx="109728" cy="109728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4400" y="561441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2939"/>
                </a:solidFill>
              </a:rPr>
              <a:t>Decision time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2514600" y="561441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Seconds between consecutive actions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680960" y="3364992"/>
            <a:ext cx="3840480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73568" y="363931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24D"/>
                </a:solidFill>
              </a:rPr>
              <a:t>Model Output</a:t>
            </a:r>
            <a:endParaRPr lang="en-US" sz="1700" dirty="0"/>
          </a:p>
        </p:txBody>
      </p:sp>
      <p:sp>
        <p:nvSpPr>
          <p:cNvPr id="41" name="Text 39"/>
          <p:cNvSpPr/>
          <p:nvPr/>
        </p:nvSpPr>
        <p:spPr>
          <a:xfrm>
            <a:off x="7973568" y="409651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A probability distribution over candidate moves: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982712" y="446227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2939"/>
                </a:solidFill>
              </a:rPr>
              <a:t>Move A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8915400" y="4494276"/>
            <a:ext cx="1828800" cy="14630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915400" y="4494276"/>
            <a:ext cx="768096" cy="146304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881360" y="4443984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D2939"/>
                </a:solidFill>
              </a:rPr>
              <a:t>0.42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982712" y="471830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2939"/>
                </a:solidFill>
              </a:rPr>
              <a:t>Move B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8915400" y="4750308"/>
            <a:ext cx="1828800" cy="14630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915400" y="4750308"/>
            <a:ext cx="493776" cy="146304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881360" y="4700016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D2939"/>
                </a:solidFill>
              </a:rPr>
              <a:t>0.27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7982712" y="497433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2939"/>
                </a:solidFill>
              </a:rPr>
              <a:t>Move C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8915400" y="5006340"/>
            <a:ext cx="1828800" cy="14630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915400" y="5006340"/>
            <a:ext cx="329184" cy="146304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881360" y="4956048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D2939"/>
                </a:solidFill>
              </a:rPr>
              <a:t>0.18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7982712" y="523036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2939"/>
                </a:solidFill>
              </a:rPr>
              <a:t>Move D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8915400" y="5262372"/>
            <a:ext cx="1828800" cy="14630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915400" y="5262372"/>
            <a:ext cx="146304" cy="146304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881360" y="5212080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D2939"/>
                </a:solidFill>
              </a:rPr>
              <a:t>0.08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7982712" y="548640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2939"/>
                </a:solidFill>
              </a:rPr>
              <a:t>Other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8915400" y="5518404"/>
            <a:ext cx="1828800" cy="14630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915400" y="5518404"/>
            <a:ext cx="91440" cy="146304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0881360" y="546811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D2939"/>
                </a:solidFill>
              </a:rPr>
              <a:t>0.05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7973568" y="525780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667085"/>
                </a:solidFill>
              </a:rPr>
              <a:t>This replaces hand-tuned assumptions with evidence from observed human play.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 Roadmap and Evaluation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the human model first, then integrate it into steganographic move selection.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353312"/>
            <a:ext cx="960120" cy="329184"/>
          </a:xfrm>
          <a:prstGeom prst="roundRect">
            <a:avLst>
              <a:gd name="adj" fmla="val 22222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42646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4E79"/>
                </a:solidFill>
              </a:rPr>
              <a:t>Now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847088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D2939"/>
                </a:solidFill>
              </a:rPr>
              <a:t>Collect human gameplay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2359152"/>
            <a:ext cx="1901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Clickable GUI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→ CSV dataset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04872" y="2331720"/>
            <a:ext cx="274320" cy="0"/>
          </a:xfrm>
          <a:prstGeom prst="line">
            <a:avLst/>
          </a:prstGeom>
          <a:noFill/>
          <a:ln w="27940">
            <a:solidFill>
              <a:srgbClr val="D0D5DD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788920" y="1353312"/>
            <a:ext cx="960120" cy="329184"/>
          </a:xfrm>
          <a:prstGeom prst="roundRect">
            <a:avLst>
              <a:gd name="adj" fmla="val 22222"/>
            </a:avLst>
          </a:prstGeom>
          <a:solidFill>
            <a:srgbClr val="EAF6F6"/>
          </a:solidFill>
          <a:ln w="12700">
            <a:solidFill>
              <a:srgbClr val="EAF6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80360" y="142646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A7F8E"/>
                </a:solidFill>
              </a:rPr>
              <a:t>Next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788920" y="1847088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D2939"/>
                </a:solidFill>
              </a:rPr>
              <a:t>Train behavior model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788920" y="2359152"/>
            <a:ext cx="1901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Baseline ML +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probability calibration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90872" y="2331720"/>
            <a:ext cx="274320" cy="0"/>
          </a:xfrm>
          <a:prstGeom prst="line">
            <a:avLst/>
          </a:prstGeom>
          <a:noFill/>
          <a:ln w="27940">
            <a:solidFill>
              <a:srgbClr val="D0D5DD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074920" y="1353312"/>
            <a:ext cx="960120" cy="329184"/>
          </a:xfrm>
          <a:prstGeom prst="roundRect">
            <a:avLst>
              <a:gd name="adj" fmla="val 22222"/>
            </a:avLst>
          </a:prstGeom>
          <a:solidFill>
            <a:srgbClr val="FFF1E2"/>
          </a:solidFill>
          <a:ln w="12700">
            <a:solidFill>
              <a:srgbClr val="FFF1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66360" y="142646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7924"/>
                </a:solidFill>
              </a:rPr>
              <a:t>Then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74920" y="1847088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D2939"/>
                </a:solidFill>
              </a:rPr>
              <a:t>Integrate encoder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074920" y="2359152"/>
            <a:ext cx="1901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Choose among plausible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behavior-compatible moves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976872" y="2331720"/>
            <a:ext cx="274320" cy="0"/>
          </a:xfrm>
          <a:prstGeom prst="line">
            <a:avLst/>
          </a:prstGeom>
          <a:noFill/>
          <a:ln w="27940">
            <a:solidFill>
              <a:srgbClr val="D0D5DD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360920" y="1353312"/>
            <a:ext cx="960120" cy="329184"/>
          </a:xfrm>
          <a:prstGeom prst="roundRect">
            <a:avLst>
              <a:gd name="adj" fmla="val 22222"/>
            </a:avLst>
          </a:prstGeom>
          <a:solidFill>
            <a:srgbClr val="EAF5EE"/>
          </a:solidFill>
          <a:ln w="12700">
            <a:solidFill>
              <a:srgbClr val="EAF5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52360" y="142646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7D4A"/>
                </a:solidFill>
              </a:rPr>
              <a:t>Evaluate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360920" y="1847088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D2939"/>
                </a:solidFill>
              </a:rPr>
              <a:t>Run experiments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360920" y="2359152"/>
            <a:ext cx="1901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Capacity • risk • accuracy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• win rate • similarity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262872" y="2331720"/>
            <a:ext cx="274320" cy="0"/>
          </a:xfrm>
          <a:prstGeom prst="line">
            <a:avLst/>
          </a:prstGeom>
          <a:noFill/>
          <a:ln w="27940">
            <a:solidFill>
              <a:srgbClr val="D0D5DD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646920" y="1353312"/>
            <a:ext cx="960120" cy="329184"/>
          </a:xfrm>
          <a:prstGeom prst="roundRect">
            <a:avLst>
              <a:gd name="adj" fmla="val 22222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38360" y="142646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324D"/>
                </a:solidFill>
              </a:rPr>
              <a:t>Result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646920" y="1847088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D2939"/>
                </a:solidFill>
              </a:rPr>
              <a:t>Research findings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646920" y="2359152"/>
            <a:ext cx="1901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Quantify the trade-off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between secrecy and realism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3474720"/>
            <a:ext cx="10927080" cy="0"/>
          </a:xfrm>
          <a:prstGeom prst="line">
            <a:avLst/>
          </a:prstGeom>
          <a:noFill/>
          <a:ln w="15240">
            <a:solidFill>
              <a:srgbClr val="D0D5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3803904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Key Evaluation Metrics</a:t>
            </a:r>
            <a:endParaRPr lang="en-US" sz="1900" dirty="0"/>
          </a:p>
        </p:txBody>
      </p:sp>
      <p:sp>
        <p:nvSpPr>
          <p:cNvPr id="30" name="Shape 28"/>
          <p:cNvSpPr/>
          <p:nvPr/>
        </p:nvSpPr>
        <p:spPr>
          <a:xfrm>
            <a:off x="640080" y="4370832"/>
            <a:ext cx="2057400" cy="1097280"/>
          </a:xfrm>
          <a:prstGeom prst="roundRect">
            <a:avLst>
              <a:gd name="adj" fmla="val 4167"/>
            </a:avLst>
          </a:prstGeom>
          <a:solidFill>
            <a:srgbClr val="EAF2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6384" y="457200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</a:rPr>
              <a:t>Embedding capacity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86384" y="496519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bits per move / game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880360" y="4370832"/>
            <a:ext cx="2057400" cy="1097280"/>
          </a:xfrm>
          <a:prstGeom prst="roundRect">
            <a:avLst>
              <a:gd name="adj" fmla="val 4167"/>
            </a:avLst>
          </a:prstGeom>
          <a:solidFill>
            <a:srgbClr val="EAF6F6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026664" y="457200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A7F8E"/>
                </a:solidFill>
              </a:rPr>
              <a:t>Decoding accuracy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026664" y="496519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correct message recovery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120640" y="4370832"/>
            <a:ext cx="2057400" cy="1097280"/>
          </a:xfrm>
          <a:prstGeom prst="roundRect">
            <a:avLst>
              <a:gd name="adj" fmla="val 4167"/>
            </a:avLst>
          </a:prstGeom>
          <a:solidFill>
            <a:srgbClr val="FFF1E2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66944" y="457200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C97924"/>
                </a:solidFill>
              </a:rPr>
              <a:t>Mine risk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266944" y="496519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mine-hit probability / rate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360920" y="4370832"/>
            <a:ext cx="2057400" cy="1097280"/>
          </a:xfrm>
          <a:prstGeom prst="roundRect">
            <a:avLst>
              <a:gd name="adj" fmla="val 4167"/>
            </a:avLst>
          </a:prstGeom>
          <a:solidFill>
            <a:srgbClr val="EAF5EE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507224" y="457200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F7D4A"/>
                </a:solidFill>
              </a:rPr>
              <a:t>Behavioral similarity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507224" y="496519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distance from human move distribution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9601200" y="4370832"/>
            <a:ext cx="2057400" cy="1097280"/>
          </a:xfrm>
          <a:prstGeom prst="roundRect">
            <a:avLst>
              <a:gd name="adj" fmla="val 4167"/>
            </a:avLst>
          </a:prstGeom>
          <a:solidFill>
            <a:srgbClr val="EEF1F4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747504" y="457200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Game performance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9747504" y="496519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win rate and game length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40080" y="5669280"/>
            <a:ext cx="10881360" cy="475488"/>
          </a:xfrm>
          <a:prstGeom prst="roundRect">
            <a:avLst>
              <a:gd name="adj" fmla="val 9615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68680" y="5797296"/>
            <a:ext cx="10424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Core research question: How much information can be embedded while keeping gameplay low-risk and human-like?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Academic Research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Minesweeper Gameplay Steganography</dc:title>
  <dc:subject>Minesweeper Gameplay Steganography Research</dc:subject>
  <dc:creator>Arnav Kumar</dc:creator>
  <cp:lastModifiedBy>Arnav Kumar</cp:lastModifiedBy>
  <cp:revision>1</cp:revision>
  <dcterms:created xsi:type="dcterms:W3CDTF">2026-10-05T10:09:26Z</dcterms:created>
  <dcterms:modified xsi:type="dcterms:W3CDTF">2026-10-05T10:09:26Z</dcterms:modified>
</cp:coreProperties>
</file>